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4"/>
  </p:notesMasterIdLst>
  <p:sldIdLst>
    <p:sldId id="2147480748" r:id="rId2"/>
    <p:sldId id="214748074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84F0"/>
    <a:srgbClr val="ECE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43"/>
  </p:normalViewPr>
  <p:slideViewPr>
    <p:cSldViewPr snapToGrid="0">
      <p:cViewPr varScale="1">
        <p:scale>
          <a:sx n="114" d="100"/>
          <a:sy n="114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06194-4B1B-DD48-9335-510191730A1C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6B8EE-10C8-2E45-A355-6B6575237A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92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8EA64E-1746-E845-AB9C-9661F646EADD}" type="datetime1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C35F-7B5A-4B7D-B4B0-A914DA257A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437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7600" y="151201"/>
            <a:ext cx="11116200" cy="482014"/>
          </a:xfrm>
          <a:prstGeom prst="rect">
            <a:avLst/>
          </a:prstGeom>
        </p:spPr>
        <p:txBody>
          <a:bodyPr/>
          <a:lstStyle>
            <a:lvl1pPr>
              <a:defRPr>
                <a:latin typeface="SB Sans Text" panose="020B0503040504020204" pitchFamily="34" charset="-52"/>
                <a:cs typeface="SB Sans Text" panose="020B0503040504020204" pitchFamily="34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1pPr>
            <a:lvl2pPr>
              <a:defRPr sz="16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2pPr>
            <a:lvl3pPr>
              <a:defRPr sz="14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3pPr>
            <a:lvl4pPr>
              <a:defRPr sz="12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4pPr>
            <a:lvl5pPr>
              <a:defRPr sz="12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C0FF1C-40D5-8741-A700-1C5BFCDFC583}" type="datetime1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C35F-7B5A-4B7D-B4B0-A914DA257AB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432836B-E033-7877-CB17-E3DB5BC0F2A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2546761"/>
            <a:ext cx="1051560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SB Sans Text" panose="020B0503040504020204" pitchFamily="34" charset="0"/>
                <a:cs typeface="SB Sans Text" panose="020B0503040504020204" pitchFamily="34" charset="0"/>
              </a:defRPr>
            </a:lvl1pPr>
            <a:lvl2pPr>
              <a:defRPr sz="16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2pPr>
            <a:lvl3pPr>
              <a:defRPr sz="14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3pPr>
            <a:lvl4pPr>
              <a:defRPr sz="12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4pPr>
            <a:lvl5pPr>
              <a:defRPr sz="12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1D1A9000-6EE1-55CC-46FD-95831894314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38200" y="3267897"/>
            <a:ext cx="1051560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SB Sans Text Cond" panose="020B0506040504020204" pitchFamily="34" charset="0"/>
                <a:cs typeface="SB Sans Text Cond" panose="020B0506040504020204" pitchFamily="34" charset="0"/>
              </a:defRPr>
            </a:lvl1pPr>
            <a:lvl2pPr>
              <a:defRPr sz="16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2pPr>
            <a:lvl3pPr>
              <a:defRPr sz="14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3pPr>
            <a:lvl4pPr>
              <a:defRPr sz="12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4pPr>
            <a:lvl5pPr>
              <a:defRPr sz="1200">
                <a:latin typeface="SB Sans Display Semibold" panose="020B0703040504020204" pitchFamily="34" charset="0"/>
                <a:cs typeface="SB Sans Display Semibold" panose="020B0703040504020204" pitchFamily="34" charset="0"/>
              </a:defRPr>
            </a:lvl5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205541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7600" y="151201"/>
            <a:ext cx="11116200" cy="482014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528C28-5881-FC4A-9C75-68C05E13F315}" type="datetime1">
              <a:rPr lang="ru-RU" smtClean="0"/>
              <a:t>15.07.2026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C35F-7B5A-4B7D-B4B0-A914DA257A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12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1_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B667F73-F1F9-4E01-89B9-68DA844ABA08}" type="datetimeFigureOut">
              <a:rPr lang="ru-RU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9C9236A-A34A-4946-86A6-AC59A9568578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740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6" cstate="email">
            <a:alphaModFix am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0" y="-213"/>
            <a:ext cx="12192757" cy="685842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7600" y="151201"/>
            <a:ext cx="11116200" cy="4820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34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651082" y="6457950"/>
            <a:ext cx="426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BC35F-7B5A-4B7D-B4B0-A914DA257AB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1771F3-470C-52EE-3F7D-408E4A53E31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2075" y="140771"/>
            <a:ext cx="426617" cy="49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3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7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rgbClr val="474747"/>
          </a:solidFill>
          <a:latin typeface="+mn-lt"/>
          <a:ea typeface="+mj-ea"/>
          <a:cs typeface="SB Sans Display Semibold" panose="020B070304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b="0" kern="1200">
          <a:solidFill>
            <a:srgbClr val="474747"/>
          </a:solidFill>
          <a:latin typeface="SB Sans Display Semibold" panose="020B0703040504020204" pitchFamily="34" charset="0"/>
          <a:ea typeface="+mn-ea"/>
          <a:cs typeface="SB Sans Display Semibold" panose="020B0703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rgbClr val="474747"/>
          </a:solidFill>
          <a:latin typeface="SB Sans Display Semibold" panose="020B0703040504020204" pitchFamily="34" charset="0"/>
          <a:ea typeface="+mn-ea"/>
          <a:cs typeface="SB Sans Display Semibold" panose="020B070304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474747"/>
          </a:solidFill>
          <a:latin typeface="SB Sans Text" panose="020B0503040504020204" pitchFamily="34" charset="0"/>
          <a:ea typeface="+mn-ea"/>
          <a:cs typeface="SB Sans Text" panose="020B0503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474747"/>
          </a:solidFill>
          <a:latin typeface="SB Sans Text" panose="020B0503040504020204" pitchFamily="34" charset="0"/>
          <a:ea typeface="+mn-ea"/>
          <a:cs typeface="SB Sans Text" panose="020B0503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474747"/>
          </a:solidFill>
          <a:latin typeface="SB Sans Text Cond" panose="020B0506040504020204" pitchFamily="34" charset="0"/>
          <a:ea typeface="+mn-ea"/>
          <a:cs typeface="SB Sans Text Cond" panose="020B0506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A1B013F-B6C6-31B5-6A1E-3E05105AA327}"/>
              </a:ext>
            </a:extLst>
          </p:cNvPr>
          <p:cNvCxnSpPr>
            <a:cxnSpLocks/>
          </p:cNvCxnSpPr>
          <p:nvPr/>
        </p:nvCxnSpPr>
        <p:spPr>
          <a:xfrm>
            <a:off x="5636187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68" name="Скругленная соединительная линия 167">
            <a:extLst>
              <a:ext uri="{FF2B5EF4-FFF2-40B4-BE49-F238E27FC236}">
                <a16:creationId xmlns:a16="http://schemas.microsoft.com/office/drawing/2014/main" id="{1B7F5AF5-C95A-2184-BDE3-A83DE191A54A}"/>
              </a:ext>
            </a:extLst>
          </p:cNvPr>
          <p:cNvCxnSpPr>
            <a:cxnSpLocks/>
            <a:stCxn id="240" idx="2"/>
            <a:endCxn id="80" idx="1"/>
          </p:cNvCxnSpPr>
          <p:nvPr/>
        </p:nvCxnSpPr>
        <p:spPr>
          <a:xfrm rot="16200000" flipH="1">
            <a:off x="6016636" y="956134"/>
            <a:ext cx="3397833" cy="4112404"/>
          </a:xfrm>
          <a:prstGeom prst="curvedConnector2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Прямая соединительная линия 182">
            <a:extLst>
              <a:ext uri="{FF2B5EF4-FFF2-40B4-BE49-F238E27FC236}">
                <a16:creationId xmlns:a16="http://schemas.microsoft.com/office/drawing/2014/main" id="{D3F6547C-0F43-E1D8-B872-EC54CC324BAC}"/>
              </a:ext>
            </a:extLst>
          </p:cNvPr>
          <p:cNvCxnSpPr>
            <a:cxnSpLocks/>
          </p:cNvCxnSpPr>
          <p:nvPr/>
        </p:nvCxnSpPr>
        <p:spPr>
          <a:xfrm>
            <a:off x="6331496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01" name="Прямая соединительная линия 200">
            <a:extLst>
              <a:ext uri="{FF2B5EF4-FFF2-40B4-BE49-F238E27FC236}">
                <a16:creationId xmlns:a16="http://schemas.microsoft.com/office/drawing/2014/main" id="{358D9709-5256-E06E-B342-5BD11F3A52A6}"/>
              </a:ext>
            </a:extLst>
          </p:cNvPr>
          <p:cNvCxnSpPr>
            <a:cxnSpLocks/>
          </p:cNvCxnSpPr>
          <p:nvPr/>
        </p:nvCxnSpPr>
        <p:spPr>
          <a:xfrm>
            <a:off x="4952690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12" name="Прямая соединительная линия 211">
            <a:extLst>
              <a:ext uri="{FF2B5EF4-FFF2-40B4-BE49-F238E27FC236}">
                <a16:creationId xmlns:a16="http://schemas.microsoft.com/office/drawing/2014/main" id="{BF32D611-98C9-9ECE-2CC4-394592FDEDD4}"/>
              </a:ext>
            </a:extLst>
          </p:cNvPr>
          <p:cNvCxnSpPr>
            <a:cxnSpLocks/>
          </p:cNvCxnSpPr>
          <p:nvPr/>
        </p:nvCxnSpPr>
        <p:spPr>
          <a:xfrm>
            <a:off x="2944593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1" name="Прямая соединительная линия 230">
            <a:extLst>
              <a:ext uri="{FF2B5EF4-FFF2-40B4-BE49-F238E27FC236}">
                <a16:creationId xmlns:a16="http://schemas.microsoft.com/office/drawing/2014/main" id="{919F01D4-84E9-2A07-6EC8-717CE7C5270A}"/>
              </a:ext>
            </a:extLst>
          </p:cNvPr>
          <p:cNvCxnSpPr>
            <a:cxnSpLocks/>
          </p:cNvCxnSpPr>
          <p:nvPr/>
        </p:nvCxnSpPr>
        <p:spPr>
          <a:xfrm>
            <a:off x="3610752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90" name="Прямая соединительная линия 189">
            <a:extLst>
              <a:ext uri="{FF2B5EF4-FFF2-40B4-BE49-F238E27FC236}">
                <a16:creationId xmlns:a16="http://schemas.microsoft.com/office/drawing/2014/main" id="{89BF771B-AE5A-1502-0343-25F1CD9F8109}"/>
              </a:ext>
            </a:extLst>
          </p:cNvPr>
          <p:cNvCxnSpPr>
            <a:cxnSpLocks/>
          </p:cNvCxnSpPr>
          <p:nvPr/>
        </p:nvCxnSpPr>
        <p:spPr>
          <a:xfrm>
            <a:off x="10421425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CF2E17E4-AEAF-F9A1-5A19-659D706B995C}"/>
              </a:ext>
            </a:extLst>
          </p:cNvPr>
          <p:cNvCxnSpPr>
            <a:cxnSpLocks/>
          </p:cNvCxnSpPr>
          <p:nvPr/>
        </p:nvCxnSpPr>
        <p:spPr>
          <a:xfrm>
            <a:off x="11092393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5" name="Прямая соединительная линия 184">
            <a:extLst>
              <a:ext uri="{FF2B5EF4-FFF2-40B4-BE49-F238E27FC236}">
                <a16:creationId xmlns:a16="http://schemas.microsoft.com/office/drawing/2014/main" id="{82386584-5212-1103-93D1-88511C7F92C3}"/>
              </a:ext>
            </a:extLst>
          </p:cNvPr>
          <p:cNvCxnSpPr>
            <a:cxnSpLocks/>
          </p:cNvCxnSpPr>
          <p:nvPr/>
        </p:nvCxnSpPr>
        <p:spPr>
          <a:xfrm>
            <a:off x="9101931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6" name="Прямая соединительная линия 185">
            <a:extLst>
              <a:ext uri="{FF2B5EF4-FFF2-40B4-BE49-F238E27FC236}">
                <a16:creationId xmlns:a16="http://schemas.microsoft.com/office/drawing/2014/main" id="{81FB30B2-7B88-1142-2592-9FA072FA7946}"/>
              </a:ext>
            </a:extLst>
          </p:cNvPr>
          <p:cNvCxnSpPr>
            <a:cxnSpLocks/>
          </p:cNvCxnSpPr>
          <p:nvPr/>
        </p:nvCxnSpPr>
        <p:spPr>
          <a:xfrm>
            <a:off x="8464625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8" name="Прямая соединительная линия 187">
            <a:extLst>
              <a:ext uri="{FF2B5EF4-FFF2-40B4-BE49-F238E27FC236}">
                <a16:creationId xmlns:a16="http://schemas.microsoft.com/office/drawing/2014/main" id="{2AD25B72-44CA-5FB1-1F21-2AD391BBFED4}"/>
              </a:ext>
            </a:extLst>
          </p:cNvPr>
          <p:cNvCxnSpPr>
            <a:cxnSpLocks/>
          </p:cNvCxnSpPr>
          <p:nvPr/>
        </p:nvCxnSpPr>
        <p:spPr>
          <a:xfrm>
            <a:off x="7755185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9" name="Прямая соединительная линия 188">
            <a:extLst>
              <a:ext uri="{FF2B5EF4-FFF2-40B4-BE49-F238E27FC236}">
                <a16:creationId xmlns:a16="http://schemas.microsoft.com/office/drawing/2014/main" id="{AF79EA4A-3A3D-3C2E-70E2-197C31705195}"/>
              </a:ext>
            </a:extLst>
          </p:cNvPr>
          <p:cNvCxnSpPr>
            <a:cxnSpLocks/>
          </p:cNvCxnSpPr>
          <p:nvPr/>
        </p:nvCxnSpPr>
        <p:spPr>
          <a:xfrm>
            <a:off x="2273625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82DDC709-FEF7-5E72-4F6C-38621DBF3242}"/>
              </a:ext>
            </a:extLst>
          </p:cNvPr>
          <p:cNvSpPr txBox="1"/>
          <p:nvPr/>
        </p:nvSpPr>
        <p:spPr>
          <a:xfrm>
            <a:off x="6355837" y="472687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Май 26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5282E68-9F4A-F725-9D6B-311B926BC007}"/>
              </a:ext>
            </a:extLst>
          </p:cNvPr>
          <p:cNvSpPr txBox="1"/>
          <p:nvPr/>
        </p:nvSpPr>
        <p:spPr>
          <a:xfrm>
            <a:off x="7065276" y="472687"/>
            <a:ext cx="665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Июн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26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73FF7C1-A812-A4E3-CDB3-AA9DDB3A5CBD}"/>
              </a:ext>
            </a:extLst>
          </p:cNvPr>
          <p:cNvSpPr txBox="1"/>
          <p:nvPr/>
        </p:nvSpPr>
        <p:spPr>
          <a:xfrm>
            <a:off x="8488966" y="472687"/>
            <a:ext cx="588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Авг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26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B6B4DE3-9777-64AC-B361-5D6DDC1746F5}"/>
              </a:ext>
            </a:extLst>
          </p:cNvPr>
          <p:cNvSpPr txBox="1"/>
          <p:nvPr/>
        </p:nvSpPr>
        <p:spPr>
          <a:xfrm>
            <a:off x="9126272" y="472687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Сен 26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86B18F1-E54C-764E-A0E0-FFDF52AFBBF2}"/>
              </a:ext>
            </a:extLst>
          </p:cNvPr>
          <p:cNvSpPr txBox="1"/>
          <p:nvPr/>
        </p:nvSpPr>
        <p:spPr>
          <a:xfrm>
            <a:off x="5684869" y="472687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Апр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26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EC41E97-2448-7A95-6F80-244ECF2D8456}"/>
              </a:ext>
            </a:extLst>
          </p:cNvPr>
          <p:cNvSpPr txBox="1"/>
          <p:nvPr/>
        </p:nvSpPr>
        <p:spPr>
          <a:xfrm>
            <a:off x="4977031" y="472687"/>
            <a:ext cx="6591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Мар 26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3EC7679-387E-FAF0-675B-B3A530DBBD49}"/>
              </a:ext>
            </a:extLst>
          </p:cNvPr>
          <p:cNvSpPr txBox="1"/>
          <p:nvPr/>
        </p:nvSpPr>
        <p:spPr>
          <a:xfrm>
            <a:off x="2297966" y="472687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ern="0" dirty="0">
                <a:solidFill>
                  <a:prstClr val="black"/>
                </a:solidFill>
              </a:rPr>
              <a:t>Н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оя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25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81F137C-7844-E94A-26C4-4088F30E1F66}"/>
              </a:ext>
            </a:extLst>
          </p:cNvPr>
          <p:cNvSpPr txBox="1"/>
          <p:nvPr/>
        </p:nvSpPr>
        <p:spPr>
          <a:xfrm>
            <a:off x="4298047" y="472687"/>
            <a:ext cx="6303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Фев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26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B387E771-307C-CAB6-E8F2-876F14A001CD}"/>
              </a:ext>
            </a:extLst>
          </p:cNvPr>
          <p:cNvSpPr txBox="1"/>
          <p:nvPr/>
        </p:nvSpPr>
        <p:spPr>
          <a:xfrm>
            <a:off x="3635093" y="472687"/>
            <a:ext cx="614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Янв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26</a:t>
            </a:r>
          </a:p>
        </p:txBody>
      </p:sp>
      <p:sp>
        <p:nvSpPr>
          <p:cNvPr id="205" name="Скругленный прямоугольник 204">
            <a:extLst>
              <a:ext uri="{FF2B5EF4-FFF2-40B4-BE49-F238E27FC236}">
                <a16:creationId xmlns:a16="http://schemas.microsoft.com/office/drawing/2014/main" id="{5E5EAF15-8513-2CB0-8B8E-EB4FE6072E4D}"/>
              </a:ext>
            </a:extLst>
          </p:cNvPr>
          <p:cNvSpPr/>
          <p:nvPr/>
        </p:nvSpPr>
        <p:spPr>
          <a:xfrm>
            <a:off x="354423" y="793405"/>
            <a:ext cx="360000" cy="1265834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</a:ln>
          <a:effectLst/>
        </p:spPr>
        <p:txBody>
          <a:bodyPr vert="vert270" wrap="none" lIns="72000" tIns="72000" rIns="72000" bIns="72000" rtlCol="0" anchor="ctr"/>
          <a:lstStyle/>
          <a:p>
            <a:pPr marL="0" marR="0" lvl="0" indent="0" algn="ctr" defTabSz="839842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0" dirty="0">
                <a:solidFill>
                  <a:srgbClr val="FFFFFF"/>
                </a:solidFill>
                <a:latin typeface="Calibri" panose="020F0502020204030204"/>
                <a:cs typeface="Calibri Light" panose="020F0302020204030204" pitchFamily="34" charset="0"/>
              </a:rPr>
              <a:t>Целевой </a:t>
            </a:r>
            <a:r>
              <a:rPr lang="en-US" sz="1200" kern="0">
                <a:solidFill>
                  <a:srgbClr val="FFFFFF"/>
                </a:solidFill>
                <a:latin typeface="Calibri" panose="020F0502020204030204"/>
                <a:cs typeface="Calibri Light" panose="020F0302020204030204" pitchFamily="34" charset="0"/>
              </a:rPr>
              <a:t>BI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71FB1B8-A72A-4CAA-D715-7410A231CC13}"/>
              </a:ext>
            </a:extLst>
          </p:cNvPr>
          <p:cNvSpPr txBox="1"/>
          <p:nvPr/>
        </p:nvSpPr>
        <p:spPr>
          <a:xfrm>
            <a:off x="9790828" y="472687"/>
            <a:ext cx="606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Окт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26</a:t>
            </a:r>
          </a:p>
        </p:txBody>
      </p:sp>
      <p:cxnSp>
        <p:nvCxnSpPr>
          <p:cNvPr id="209" name="Прямая соединительная линия 208">
            <a:extLst>
              <a:ext uri="{FF2B5EF4-FFF2-40B4-BE49-F238E27FC236}">
                <a16:creationId xmlns:a16="http://schemas.microsoft.com/office/drawing/2014/main" id="{7CAEF498-C677-0861-4432-7451B025F2E0}"/>
              </a:ext>
            </a:extLst>
          </p:cNvPr>
          <p:cNvCxnSpPr>
            <a:cxnSpLocks/>
          </p:cNvCxnSpPr>
          <p:nvPr/>
        </p:nvCxnSpPr>
        <p:spPr>
          <a:xfrm>
            <a:off x="7040936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10" name="Прямая соединительная линия 209">
            <a:extLst>
              <a:ext uri="{FF2B5EF4-FFF2-40B4-BE49-F238E27FC236}">
                <a16:creationId xmlns:a16="http://schemas.microsoft.com/office/drawing/2014/main" id="{B4CE39BE-B911-2FC8-30D7-1D8B500B8D8C}"/>
              </a:ext>
            </a:extLst>
          </p:cNvPr>
          <p:cNvCxnSpPr>
            <a:cxnSpLocks/>
          </p:cNvCxnSpPr>
          <p:nvPr/>
        </p:nvCxnSpPr>
        <p:spPr>
          <a:xfrm>
            <a:off x="4273706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498A1CA1-A537-30B1-DAB3-E0CC4CAE8D28}"/>
              </a:ext>
            </a:extLst>
          </p:cNvPr>
          <p:cNvSpPr txBox="1"/>
          <p:nvPr/>
        </p:nvSpPr>
        <p:spPr>
          <a:xfrm>
            <a:off x="2968934" y="472687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Дек 25</a:t>
            </a:r>
          </a:p>
        </p:txBody>
      </p:sp>
      <p:sp>
        <p:nvSpPr>
          <p:cNvPr id="213" name="Прямоугольник 212">
            <a:extLst>
              <a:ext uri="{FF2B5EF4-FFF2-40B4-BE49-F238E27FC236}">
                <a16:creationId xmlns:a16="http://schemas.microsoft.com/office/drawing/2014/main" id="{E9827905-99C1-67B6-73EE-80B4CB66DA43}"/>
              </a:ext>
            </a:extLst>
          </p:cNvPr>
          <p:cNvSpPr/>
          <p:nvPr/>
        </p:nvSpPr>
        <p:spPr>
          <a:xfrm>
            <a:off x="0" y="6557177"/>
            <a:ext cx="4140000" cy="300823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Ромб 213">
            <a:extLst>
              <a:ext uri="{FF2B5EF4-FFF2-40B4-BE49-F238E27FC236}">
                <a16:creationId xmlns:a16="http://schemas.microsoft.com/office/drawing/2014/main" id="{55C75792-117A-2D92-19FE-C79A700B76D6}"/>
              </a:ext>
            </a:extLst>
          </p:cNvPr>
          <p:cNvSpPr/>
          <p:nvPr/>
        </p:nvSpPr>
        <p:spPr>
          <a:xfrm>
            <a:off x="32531" y="6655862"/>
            <a:ext cx="89505" cy="89505"/>
          </a:xfrm>
          <a:prstGeom prst="diamond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E406BE7-5A3E-B6C2-5A29-C42EE61F6F87}"/>
              </a:ext>
            </a:extLst>
          </p:cNvPr>
          <p:cNvSpPr txBox="1"/>
          <p:nvPr/>
        </p:nvSpPr>
        <p:spPr>
          <a:xfrm>
            <a:off x="151974" y="6616105"/>
            <a:ext cx="802696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2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П</a:t>
            </a: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росроченная веха или зависимость</a:t>
            </a:r>
          </a:p>
        </p:txBody>
      </p:sp>
      <p:sp>
        <p:nvSpPr>
          <p:cNvPr id="216" name="Ромб 215">
            <a:extLst>
              <a:ext uri="{FF2B5EF4-FFF2-40B4-BE49-F238E27FC236}">
                <a16:creationId xmlns:a16="http://schemas.microsoft.com/office/drawing/2014/main" id="{058FA91D-2FF5-3265-711D-D821CAE9E4EC}"/>
              </a:ext>
            </a:extLst>
          </p:cNvPr>
          <p:cNvSpPr/>
          <p:nvPr/>
        </p:nvSpPr>
        <p:spPr>
          <a:xfrm>
            <a:off x="898664" y="6655862"/>
            <a:ext cx="89505" cy="89505"/>
          </a:xfrm>
          <a:prstGeom prst="diamond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601998A2-DF43-1DA2-6048-5C08A9E478D7}"/>
              </a:ext>
            </a:extLst>
          </p:cNvPr>
          <p:cNvSpPr txBox="1"/>
          <p:nvPr/>
        </p:nvSpPr>
        <p:spPr>
          <a:xfrm>
            <a:off x="1021756" y="6616105"/>
            <a:ext cx="802696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Выполненная веха или зависимость</a:t>
            </a:r>
          </a:p>
        </p:txBody>
      </p:sp>
      <p:sp>
        <p:nvSpPr>
          <p:cNvPr id="218" name="Ромб 217">
            <a:extLst>
              <a:ext uri="{FF2B5EF4-FFF2-40B4-BE49-F238E27FC236}">
                <a16:creationId xmlns:a16="http://schemas.microsoft.com/office/drawing/2014/main" id="{8A2EE776-0BD3-7D45-43BE-37AD031215A4}"/>
              </a:ext>
            </a:extLst>
          </p:cNvPr>
          <p:cNvSpPr/>
          <p:nvPr/>
        </p:nvSpPr>
        <p:spPr>
          <a:xfrm>
            <a:off x="1735650" y="6655862"/>
            <a:ext cx="89505" cy="89505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1D7AA63-BB9C-AA0D-347F-52FA36C9ACE6}"/>
              </a:ext>
            </a:extLst>
          </p:cNvPr>
          <p:cNvSpPr txBox="1"/>
          <p:nvPr/>
        </p:nvSpPr>
        <p:spPr>
          <a:xfrm>
            <a:off x="1858040" y="6616105"/>
            <a:ext cx="661740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Плановая  веха или зависимость</a:t>
            </a:r>
          </a:p>
        </p:txBody>
      </p:sp>
      <p:sp>
        <p:nvSpPr>
          <p:cNvPr id="220" name="Ромб 219">
            <a:extLst>
              <a:ext uri="{FF2B5EF4-FFF2-40B4-BE49-F238E27FC236}">
                <a16:creationId xmlns:a16="http://schemas.microsoft.com/office/drawing/2014/main" id="{828ED006-B717-E39C-6AFB-21E482A3AB91}"/>
              </a:ext>
            </a:extLst>
          </p:cNvPr>
          <p:cNvSpPr/>
          <p:nvPr/>
        </p:nvSpPr>
        <p:spPr>
          <a:xfrm>
            <a:off x="2496930" y="6655862"/>
            <a:ext cx="89505" cy="89505"/>
          </a:xfrm>
          <a:prstGeom prst="diamond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258269D-F45D-86A8-7F9F-415245236FAF}"/>
              </a:ext>
            </a:extLst>
          </p:cNvPr>
          <p:cNvSpPr txBox="1"/>
          <p:nvPr/>
        </p:nvSpPr>
        <p:spPr>
          <a:xfrm>
            <a:off x="2648371" y="6619973"/>
            <a:ext cx="880165" cy="1751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Веха или зависимость под риском</a:t>
            </a:r>
          </a:p>
        </p:txBody>
      </p:sp>
      <p:sp>
        <p:nvSpPr>
          <p:cNvPr id="225" name="Скругленный прямоугольник 224">
            <a:extLst>
              <a:ext uri="{FF2B5EF4-FFF2-40B4-BE49-F238E27FC236}">
                <a16:creationId xmlns:a16="http://schemas.microsoft.com/office/drawing/2014/main" id="{ABC27C9F-E946-63FB-F9A4-505B99CFC316}"/>
              </a:ext>
            </a:extLst>
          </p:cNvPr>
          <p:cNvSpPr/>
          <p:nvPr/>
        </p:nvSpPr>
        <p:spPr>
          <a:xfrm>
            <a:off x="360417" y="4165088"/>
            <a:ext cx="360000" cy="2285633"/>
          </a:xfrm>
          <a:prstGeom prst="roundRect">
            <a:avLst/>
          </a:prstGeom>
          <a:solidFill>
            <a:srgbClr val="7030A0"/>
          </a:solidFill>
          <a:ln w="12700" cap="flat" cmpd="sng" algn="ctr">
            <a:noFill/>
            <a:prstDash val="solid"/>
          </a:ln>
          <a:effectLst/>
        </p:spPr>
        <p:txBody>
          <a:bodyPr vert="vert270" wrap="square" lIns="72000" tIns="72000" rIns="72000" bIns="72000" rtlCol="0" anchor="ctr"/>
          <a:lstStyle/>
          <a:p>
            <a:pPr marL="0" marR="0" lvl="0" indent="0" algn="ctr" defTabSz="839842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0" dirty="0">
                <a:solidFill>
                  <a:srgbClr val="FFFFFF"/>
                </a:solidFill>
                <a:latin typeface="Calibri" panose="020F0502020204030204"/>
                <a:cs typeface="Calibri Light" panose="020F0302020204030204" pitchFamily="34" charset="0"/>
              </a:rPr>
              <a:t>Отчёты и пользователи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B362F5D-C0B0-238A-9CA3-662F703338C7}"/>
              </a:ext>
            </a:extLst>
          </p:cNvPr>
          <p:cNvSpPr txBox="1"/>
          <p:nvPr/>
        </p:nvSpPr>
        <p:spPr>
          <a:xfrm>
            <a:off x="978472" y="472687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Сен 25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1532546-CD85-6AF0-63DA-DF2795C09FBA}"/>
              </a:ext>
            </a:extLst>
          </p:cNvPr>
          <p:cNvSpPr txBox="1"/>
          <p:nvPr/>
        </p:nvSpPr>
        <p:spPr>
          <a:xfrm>
            <a:off x="1643028" y="472687"/>
            <a:ext cx="606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Окт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25</a:t>
            </a:r>
          </a:p>
        </p:txBody>
      </p:sp>
      <p:cxnSp>
        <p:nvCxnSpPr>
          <p:cNvPr id="230" name="Прямая соединительная линия 229">
            <a:extLst>
              <a:ext uri="{FF2B5EF4-FFF2-40B4-BE49-F238E27FC236}">
                <a16:creationId xmlns:a16="http://schemas.microsoft.com/office/drawing/2014/main" id="{5B668967-F02E-0053-F7BE-481F058BFE3B}"/>
              </a:ext>
            </a:extLst>
          </p:cNvPr>
          <p:cNvCxnSpPr>
            <a:cxnSpLocks/>
          </p:cNvCxnSpPr>
          <p:nvPr/>
        </p:nvCxnSpPr>
        <p:spPr>
          <a:xfrm>
            <a:off x="1618687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2" name="Прямая соединительная линия 231">
            <a:extLst>
              <a:ext uri="{FF2B5EF4-FFF2-40B4-BE49-F238E27FC236}">
                <a16:creationId xmlns:a16="http://schemas.microsoft.com/office/drawing/2014/main" id="{12DAACDA-CF31-3443-F713-4722DDE72B7E}"/>
              </a:ext>
            </a:extLst>
          </p:cNvPr>
          <p:cNvCxnSpPr>
            <a:cxnSpLocks/>
          </p:cNvCxnSpPr>
          <p:nvPr/>
        </p:nvCxnSpPr>
        <p:spPr>
          <a:xfrm>
            <a:off x="9766487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39" name="Пятиугольник 238">
            <a:extLst>
              <a:ext uri="{FF2B5EF4-FFF2-40B4-BE49-F238E27FC236}">
                <a16:creationId xmlns:a16="http://schemas.microsoft.com/office/drawing/2014/main" id="{4F950E3F-0065-DD51-C829-77D2A30FC7EC}"/>
              </a:ext>
            </a:extLst>
          </p:cNvPr>
          <p:cNvSpPr/>
          <p:nvPr/>
        </p:nvSpPr>
        <p:spPr>
          <a:xfrm>
            <a:off x="941107" y="1096625"/>
            <a:ext cx="10767794" cy="2880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marR="0" lvl="0" algn="l" defTabSz="840072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Устранение блокеров миграции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40" name="Ромб 239">
            <a:extLst>
              <a:ext uri="{FF2B5EF4-FFF2-40B4-BE49-F238E27FC236}">
                <a16:creationId xmlns:a16="http://schemas.microsoft.com/office/drawing/2014/main" id="{FAA77318-2BF9-5ED4-6635-EBD2869D7A37}"/>
              </a:ext>
            </a:extLst>
          </p:cNvPr>
          <p:cNvSpPr>
            <a:spLocks noChangeAspect="1"/>
          </p:cNvSpPr>
          <p:nvPr/>
        </p:nvSpPr>
        <p:spPr>
          <a:xfrm>
            <a:off x="5569350" y="1133420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FEE9A-8111-F7DB-076E-0DC35AC6A725}"/>
              </a:ext>
            </a:extLst>
          </p:cNvPr>
          <p:cNvSpPr txBox="1"/>
          <p:nvPr/>
        </p:nvSpPr>
        <p:spPr>
          <a:xfrm>
            <a:off x="3792986" y="6616107"/>
            <a:ext cx="432000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Перенос вехи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D6D88CD-FF6E-00B1-A317-8C4BC5B38259}"/>
              </a:ext>
            </a:extLst>
          </p:cNvPr>
          <p:cNvCxnSpPr>
            <a:cxnSpLocks/>
          </p:cNvCxnSpPr>
          <p:nvPr/>
        </p:nvCxnSpPr>
        <p:spPr>
          <a:xfrm flipV="1">
            <a:off x="3503781" y="6758736"/>
            <a:ext cx="236538" cy="1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C06F0C55-850A-435E-52A4-E75F7022A74D}"/>
              </a:ext>
            </a:extLst>
          </p:cNvPr>
          <p:cNvCxnSpPr>
            <a:cxnSpLocks/>
          </p:cNvCxnSpPr>
          <p:nvPr/>
        </p:nvCxnSpPr>
        <p:spPr>
          <a:xfrm flipH="1" flipV="1">
            <a:off x="3503781" y="6657136"/>
            <a:ext cx="236538" cy="1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FAD4871-4C70-BDA8-8A7C-8A24B6814C3B}"/>
              </a:ext>
            </a:extLst>
          </p:cNvPr>
          <p:cNvSpPr txBox="1"/>
          <p:nvPr/>
        </p:nvSpPr>
        <p:spPr>
          <a:xfrm>
            <a:off x="10445766" y="472687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Ноя 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432E05-6760-38B9-957C-66ED45F20CA0}"/>
              </a:ext>
            </a:extLst>
          </p:cNvPr>
          <p:cNvSpPr txBox="1"/>
          <p:nvPr/>
        </p:nvSpPr>
        <p:spPr>
          <a:xfrm>
            <a:off x="11116734" y="472687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Дек 26</a:t>
            </a:r>
          </a:p>
        </p:txBody>
      </p:sp>
      <p:sp>
        <p:nvSpPr>
          <p:cNvPr id="57" name="Ромб 56">
            <a:extLst>
              <a:ext uri="{FF2B5EF4-FFF2-40B4-BE49-F238E27FC236}">
                <a16:creationId xmlns:a16="http://schemas.microsoft.com/office/drawing/2014/main" id="{879E29A9-2E34-0AF0-712C-C24680B18301}"/>
              </a:ext>
            </a:extLst>
          </p:cNvPr>
          <p:cNvSpPr>
            <a:spLocks noChangeAspect="1"/>
          </p:cNvSpPr>
          <p:nvPr/>
        </p:nvSpPr>
        <p:spPr>
          <a:xfrm>
            <a:off x="11577095" y="1143234"/>
            <a:ext cx="180000" cy="180000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5A8B2FF-CAA0-D153-2EEF-866BFEB114D0}"/>
              </a:ext>
            </a:extLst>
          </p:cNvPr>
          <p:cNvSpPr txBox="1">
            <a:spLocks/>
          </p:cNvSpPr>
          <p:nvPr/>
        </p:nvSpPr>
        <p:spPr>
          <a:xfrm>
            <a:off x="220692" y="115648"/>
            <a:ext cx="11527609" cy="4669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1" u="none" strike="noStrike" cap="none" spc="0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SB Sans Display Semibold" panose="020B0503040504020204" pitchFamily="34" charset="0"/>
                <a:ea typeface="+mj-ea"/>
                <a:cs typeface="SB Sans Display Semibold" panose="020B0503040504020204" pitchFamily="34" charset="0"/>
              </a:defRPr>
            </a:lvl1pPr>
          </a:lstStyle>
          <a:p>
            <a:pPr lvl="0">
              <a:defRPr/>
            </a:pPr>
            <a:r>
              <a:rPr lang="ru-RU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Миграция с </a:t>
            </a:r>
            <a:r>
              <a:rPr lang="en-US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Qlik </a:t>
            </a:r>
            <a:r>
              <a:rPr lang="ru-RU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на </a:t>
            </a:r>
            <a:r>
              <a:rPr lang="en-US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BI</a:t>
            </a:r>
            <a:r>
              <a:rPr lang="ru-RU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-систему</a:t>
            </a:r>
            <a:r>
              <a:rPr lang="en-US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 </a:t>
            </a:r>
            <a:r>
              <a:rPr lang="ru-RU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собственной разработки. Проект 1 (1/2)</a:t>
            </a:r>
            <a:endParaRPr kumimoji="0" lang="en-US" sz="1600" b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SB Sans Text" panose="020B0503040504020204" pitchFamily="34" charset="0"/>
              <a:cs typeface="SB Sans Text" panose="020B0503040504020204" pitchFamily="34" charset="0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A17A61E-65BD-9267-9402-AF4FE1AA607E}"/>
              </a:ext>
            </a:extLst>
          </p:cNvPr>
          <p:cNvSpPr txBox="1"/>
          <p:nvPr/>
        </p:nvSpPr>
        <p:spPr>
          <a:xfrm>
            <a:off x="5352261" y="913244"/>
            <a:ext cx="1390163" cy="246221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0" tIns="0" rIns="0" bIns="0" rtlCol="0" anchor="ctr" anchorCtr="0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31.03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0" dirty="0">
                <a:latin typeface="+mj-lt"/>
              </a:rPr>
              <a:t>Сводные таблицы</a:t>
            </a:r>
            <a:endParaRPr lang="en-US" sz="1000" b="0" dirty="0">
              <a:latin typeface="+mj-lt"/>
            </a:endParaRPr>
          </a:p>
        </p:txBody>
      </p:sp>
      <p:sp>
        <p:nvSpPr>
          <p:cNvPr id="27" name="Ромб 26">
            <a:extLst>
              <a:ext uri="{FF2B5EF4-FFF2-40B4-BE49-F238E27FC236}">
                <a16:creationId xmlns:a16="http://schemas.microsoft.com/office/drawing/2014/main" id="{4B2BC02F-84DC-CA9B-470B-A8A97F1F7CD8}"/>
              </a:ext>
            </a:extLst>
          </p:cNvPr>
          <p:cNvSpPr>
            <a:spLocks noChangeAspect="1"/>
          </p:cNvSpPr>
          <p:nvPr/>
        </p:nvSpPr>
        <p:spPr>
          <a:xfrm>
            <a:off x="1520287" y="1136097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AC2434-E534-B72D-AEAB-1B68419581A8}"/>
              </a:ext>
            </a:extLst>
          </p:cNvPr>
          <p:cNvSpPr txBox="1"/>
          <p:nvPr/>
        </p:nvSpPr>
        <p:spPr>
          <a:xfrm>
            <a:off x="1303199" y="838061"/>
            <a:ext cx="1291361" cy="248851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0" tIns="0" rIns="0" bIns="0" rtlCol="0" anchor="ctr" anchorCtr="0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B Sans Text" panose="020B0503040504020204" pitchFamily="34" charset="0"/>
                <a:cs typeface="SB Sans Text" panose="020B0503040504020204" pitchFamily="34" charset="0"/>
              </a:rPr>
              <a:t>30.09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0" dirty="0">
                <a:latin typeface="SB Sans Text" panose="020B0503040504020204" pitchFamily="34" charset="0"/>
                <a:cs typeface="SB Sans Text" panose="020B0503040504020204" pitchFamily="34" charset="0"/>
              </a:rPr>
              <a:t>требования ИБ</a:t>
            </a:r>
            <a:endParaRPr kumimoji="0" lang="ru-RU" sz="1000" b="0" u="none" strike="noStrike" kern="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SB Sans Text" panose="020B0503040504020204" pitchFamily="34" charset="0"/>
              <a:cs typeface="SB Sans Text" panose="020B0503040504020204" pitchFamily="34" charset="0"/>
            </a:endParaRPr>
          </a:p>
        </p:txBody>
      </p:sp>
      <p:sp>
        <p:nvSpPr>
          <p:cNvPr id="128" name="Пятиугольник 127">
            <a:extLst>
              <a:ext uri="{FF2B5EF4-FFF2-40B4-BE49-F238E27FC236}">
                <a16:creationId xmlns:a16="http://schemas.microsoft.com/office/drawing/2014/main" id="{4A7D068F-293A-42D8-0615-4900541C3089}"/>
              </a:ext>
            </a:extLst>
          </p:cNvPr>
          <p:cNvSpPr/>
          <p:nvPr/>
        </p:nvSpPr>
        <p:spPr>
          <a:xfrm>
            <a:off x="941107" y="1651463"/>
            <a:ext cx="10807194" cy="2880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Разработка по другим </a:t>
            </a:r>
            <a:r>
              <a:rPr 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CR</a:t>
            </a: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, важным для клиента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34" name="Пятиугольник 133">
            <a:extLst>
              <a:ext uri="{FF2B5EF4-FFF2-40B4-BE49-F238E27FC236}">
                <a16:creationId xmlns:a16="http://schemas.microsoft.com/office/drawing/2014/main" id="{EC88D55D-626F-69E8-3FD9-F9E3B0DBC0F7}"/>
              </a:ext>
            </a:extLst>
          </p:cNvPr>
          <p:cNvSpPr/>
          <p:nvPr/>
        </p:nvSpPr>
        <p:spPr>
          <a:xfrm>
            <a:off x="926678" y="2168155"/>
            <a:ext cx="4026011" cy="29492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Ревизия текущих отчетов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37" name="Пятиугольник 136">
            <a:extLst>
              <a:ext uri="{FF2B5EF4-FFF2-40B4-BE49-F238E27FC236}">
                <a16:creationId xmlns:a16="http://schemas.microsoft.com/office/drawing/2014/main" id="{F15B9FC5-613A-7CE1-C7C6-DD3B5BC095DA}"/>
              </a:ext>
            </a:extLst>
          </p:cNvPr>
          <p:cNvSpPr/>
          <p:nvPr/>
        </p:nvSpPr>
        <p:spPr>
          <a:xfrm>
            <a:off x="911575" y="2557503"/>
            <a:ext cx="6227099" cy="2880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Разработка архитектуры и процессов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41" name="Пятиугольник 140">
            <a:extLst>
              <a:ext uri="{FF2B5EF4-FFF2-40B4-BE49-F238E27FC236}">
                <a16:creationId xmlns:a16="http://schemas.microsoft.com/office/drawing/2014/main" id="{4485FB22-1ADE-F177-3178-1CAA712AB957}"/>
              </a:ext>
            </a:extLst>
          </p:cNvPr>
          <p:cNvSpPr/>
          <p:nvPr/>
        </p:nvSpPr>
        <p:spPr>
          <a:xfrm>
            <a:off x="918560" y="2953930"/>
            <a:ext cx="4493561" cy="2880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Подготовка инфраструктуры</a:t>
            </a:r>
            <a:r>
              <a:rPr 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 (</a:t>
            </a: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заказ выделенной БД)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42" name="Пятиугольник 141">
            <a:extLst>
              <a:ext uri="{FF2B5EF4-FFF2-40B4-BE49-F238E27FC236}">
                <a16:creationId xmlns:a16="http://schemas.microsoft.com/office/drawing/2014/main" id="{19A9D0A1-EC5F-AC08-2C86-2B0FCADAB15E}"/>
              </a:ext>
            </a:extLst>
          </p:cNvPr>
          <p:cNvSpPr/>
          <p:nvPr/>
        </p:nvSpPr>
        <p:spPr>
          <a:xfrm>
            <a:off x="5440087" y="3313968"/>
            <a:ext cx="1954806" cy="283838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Интеграция витрин и целевого </a:t>
            </a:r>
            <a:r>
              <a:rPr 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BI</a:t>
            </a:r>
          </a:p>
        </p:txBody>
      </p:sp>
      <p:sp>
        <p:nvSpPr>
          <p:cNvPr id="143" name="Пятиугольник 142">
            <a:extLst>
              <a:ext uri="{FF2B5EF4-FFF2-40B4-BE49-F238E27FC236}">
                <a16:creationId xmlns:a16="http://schemas.microsoft.com/office/drawing/2014/main" id="{6CCF5466-0ADE-7CA0-C890-AD9E2968E50E}"/>
              </a:ext>
            </a:extLst>
          </p:cNvPr>
          <p:cNvSpPr/>
          <p:nvPr/>
        </p:nvSpPr>
        <p:spPr>
          <a:xfrm>
            <a:off x="7060009" y="3704806"/>
            <a:ext cx="1057975" cy="2880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Создание ролевой модели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48" name="Пятиугольник 147">
            <a:extLst>
              <a:ext uri="{FF2B5EF4-FFF2-40B4-BE49-F238E27FC236}">
                <a16:creationId xmlns:a16="http://schemas.microsoft.com/office/drawing/2014/main" id="{F06C0772-248C-29E1-2BE1-634854D98D1B}"/>
              </a:ext>
            </a:extLst>
          </p:cNvPr>
          <p:cNvSpPr/>
          <p:nvPr/>
        </p:nvSpPr>
        <p:spPr>
          <a:xfrm>
            <a:off x="7122784" y="4161056"/>
            <a:ext cx="2604558" cy="325219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Получение доступов разработчиков</a:t>
            </a:r>
            <a:r>
              <a:rPr 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 </a:t>
            </a: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отчётов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54" name="Ромб 153">
            <a:extLst>
              <a:ext uri="{FF2B5EF4-FFF2-40B4-BE49-F238E27FC236}">
                <a16:creationId xmlns:a16="http://schemas.microsoft.com/office/drawing/2014/main" id="{6FE7F526-532C-7221-12D5-C75E8D4E7DD7}"/>
              </a:ext>
            </a:extLst>
          </p:cNvPr>
          <p:cNvSpPr>
            <a:spLocks noChangeAspect="1"/>
          </p:cNvSpPr>
          <p:nvPr/>
        </p:nvSpPr>
        <p:spPr>
          <a:xfrm>
            <a:off x="3521089" y="1133420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6586B83-8E5F-6589-3AF9-E31F07530CED}"/>
              </a:ext>
            </a:extLst>
          </p:cNvPr>
          <p:cNvSpPr txBox="1"/>
          <p:nvPr/>
        </p:nvSpPr>
        <p:spPr>
          <a:xfrm>
            <a:off x="3304000" y="911929"/>
            <a:ext cx="1755803" cy="248851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0" tIns="0" rIns="0" bIns="0" rtlCol="0" anchor="ctr" anchorCtr="0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31.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12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+mj-lt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Экспорт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PDF-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версии</a:t>
            </a:r>
          </a:p>
        </p:txBody>
      </p:sp>
      <p:sp>
        <p:nvSpPr>
          <p:cNvPr id="165" name="Ромб 164">
            <a:extLst>
              <a:ext uri="{FF2B5EF4-FFF2-40B4-BE49-F238E27FC236}">
                <a16:creationId xmlns:a16="http://schemas.microsoft.com/office/drawing/2014/main" id="{FCD8A5D6-36CE-A34B-BBBB-4F0A280DF958}"/>
              </a:ext>
            </a:extLst>
          </p:cNvPr>
          <p:cNvSpPr>
            <a:spLocks noChangeAspect="1"/>
          </p:cNvSpPr>
          <p:nvPr/>
        </p:nvSpPr>
        <p:spPr>
          <a:xfrm>
            <a:off x="9623169" y="4219812"/>
            <a:ext cx="180000" cy="180000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8DF728F-3367-1A50-E7D0-99C7F2DBBB0D}"/>
              </a:ext>
            </a:extLst>
          </p:cNvPr>
          <p:cNvSpPr txBox="1"/>
          <p:nvPr/>
        </p:nvSpPr>
        <p:spPr>
          <a:xfrm>
            <a:off x="11021393" y="838061"/>
            <a:ext cx="1103905" cy="248851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0" tIns="0" rIns="0" bIns="0" rtlCol="0" anchor="ctr" anchorCtr="0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0" dirty="0">
                <a:latin typeface="+mj-lt"/>
              </a:rPr>
              <a:t>31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.12</a:t>
            </a:r>
          </a:p>
          <a:p>
            <a:pPr marR="0" lvl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000" b="0" dirty="0">
                <a:latin typeface="+mj-lt"/>
              </a:rPr>
              <a:t>Рассылка </a:t>
            </a:r>
            <a:r>
              <a:rPr lang="en-US" sz="1000" b="0" dirty="0">
                <a:latin typeface="+mj-lt"/>
              </a:rPr>
              <a:t>pdf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+mj-lt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3" name="Скругленный прямоугольник 82">
            <a:extLst>
              <a:ext uri="{FF2B5EF4-FFF2-40B4-BE49-F238E27FC236}">
                <a16:creationId xmlns:a16="http://schemas.microsoft.com/office/drawing/2014/main" id="{ABC27C9F-E946-63FB-F9A4-505B99CFC316}"/>
              </a:ext>
            </a:extLst>
          </p:cNvPr>
          <p:cNvSpPr/>
          <p:nvPr/>
        </p:nvSpPr>
        <p:spPr>
          <a:xfrm>
            <a:off x="354126" y="2161466"/>
            <a:ext cx="360000" cy="1901395"/>
          </a:xfrm>
          <a:prstGeom prst="roundRect">
            <a:avLst/>
          </a:prstGeom>
          <a:solidFill>
            <a:srgbClr val="7030A0"/>
          </a:solidFill>
          <a:ln w="12700" cap="flat" cmpd="sng" algn="ctr">
            <a:noFill/>
            <a:prstDash val="solid"/>
          </a:ln>
          <a:effectLst/>
        </p:spPr>
        <p:txBody>
          <a:bodyPr vert="vert270" wrap="square" lIns="72000" tIns="72000" rIns="72000" bIns="72000" rtlCol="0" anchor="ctr"/>
          <a:lstStyle/>
          <a:p>
            <a:pPr marL="0" marR="0" lvl="0" indent="0" algn="ctr" defTabSz="839842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0" dirty="0">
                <a:solidFill>
                  <a:srgbClr val="FFFFFF"/>
                </a:solidFill>
                <a:latin typeface="Calibri" panose="020F0502020204030204"/>
                <a:cs typeface="Calibri Light" panose="020F0302020204030204" pitchFamily="34" charset="0"/>
              </a:rPr>
              <a:t>Архитектура и инфраструктура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E7EB7FC-FB52-4FA0-12BB-B05ED3C110CC}"/>
              </a:ext>
            </a:extLst>
          </p:cNvPr>
          <p:cNvSpPr txBox="1"/>
          <p:nvPr/>
        </p:nvSpPr>
        <p:spPr>
          <a:xfrm>
            <a:off x="7779526" y="472687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Июл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26</a:t>
            </a:r>
          </a:p>
        </p:txBody>
      </p:sp>
      <p:sp>
        <p:nvSpPr>
          <p:cNvPr id="79" name="Пятиугольник 78">
            <a:extLst>
              <a:ext uri="{FF2B5EF4-FFF2-40B4-BE49-F238E27FC236}">
                <a16:creationId xmlns:a16="http://schemas.microsoft.com/office/drawing/2014/main" id="{4485FB22-1ADE-F177-3178-1CAA712AB957}"/>
              </a:ext>
            </a:extLst>
          </p:cNvPr>
          <p:cNvSpPr/>
          <p:nvPr/>
        </p:nvSpPr>
        <p:spPr>
          <a:xfrm>
            <a:off x="5415625" y="2963816"/>
            <a:ext cx="1644768" cy="2880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Подготовка витрин отчетности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80" name="Пятиугольник 79">
            <a:extLst>
              <a:ext uri="{FF2B5EF4-FFF2-40B4-BE49-F238E27FC236}">
                <a16:creationId xmlns:a16="http://schemas.microsoft.com/office/drawing/2014/main" id="{DC87FA7D-3191-0B22-C22F-C19EE814CE4B}"/>
              </a:ext>
            </a:extLst>
          </p:cNvPr>
          <p:cNvSpPr/>
          <p:nvPr/>
        </p:nvSpPr>
        <p:spPr>
          <a:xfrm>
            <a:off x="9771754" y="4543003"/>
            <a:ext cx="2320692" cy="3365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Разработка первой волны отчётов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139F396B-B988-4EAB-1E7E-41617BFA16E5}"/>
              </a:ext>
            </a:extLst>
          </p:cNvPr>
          <p:cNvSpPr/>
          <p:nvPr/>
        </p:nvSpPr>
        <p:spPr>
          <a:xfrm>
            <a:off x="11500628" y="4359192"/>
            <a:ext cx="624670" cy="254165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+mj-lt"/>
              </a:rPr>
              <a:t>80 </a:t>
            </a:r>
            <a:r>
              <a:rPr lang="ru-RU" sz="1000" dirty="0">
                <a:latin typeface="+mj-lt"/>
              </a:rPr>
              <a:t>ч/д</a:t>
            </a:r>
          </a:p>
        </p:txBody>
      </p:sp>
      <p:sp>
        <p:nvSpPr>
          <p:cNvPr id="4" name="Ромб 3">
            <a:extLst>
              <a:ext uri="{FF2B5EF4-FFF2-40B4-BE49-F238E27FC236}">
                <a16:creationId xmlns:a16="http://schemas.microsoft.com/office/drawing/2014/main" id="{4A875835-E024-EEDA-A03F-43A73DA81F93}"/>
              </a:ext>
            </a:extLst>
          </p:cNvPr>
          <p:cNvSpPr>
            <a:spLocks noChangeAspect="1"/>
          </p:cNvSpPr>
          <p:nvPr/>
        </p:nvSpPr>
        <p:spPr>
          <a:xfrm>
            <a:off x="5275704" y="2991956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9959A-88E4-9296-4AA1-DC94582D528B}"/>
              </a:ext>
            </a:extLst>
          </p:cNvPr>
          <p:cNvSpPr txBox="1"/>
          <p:nvPr/>
        </p:nvSpPr>
        <p:spPr>
          <a:xfrm>
            <a:off x="5226561" y="2833942"/>
            <a:ext cx="405113" cy="125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0" tIns="0" rIns="0" bIns="0" rtlCol="0" anchor="ctr" anchorCtr="0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>
                <a:latin typeface="+mj-lt"/>
              </a:rPr>
              <a:t>22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.03</a:t>
            </a:r>
          </a:p>
        </p:txBody>
      </p:sp>
      <p:sp>
        <p:nvSpPr>
          <p:cNvPr id="10" name="Ромб 9">
            <a:extLst>
              <a:ext uri="{FF2B5EF4-FFF2-40B4-BE49-F238E27FC236}">
                <a16:creationId xmlns:a16="http://schemas.microsoft.com/office/drawing/2014/main" id="{EFD20F80-409A-0563-10F6-A0550D123C21}"/>
              </a:ext>
            </a:extLst>
          </p:cNvPr>
          <p:cNvSpPr>
            <a:spLocks noChangeAspect="1"/>
          </p:cNvSpPr>
          <p:nvPr/>
        </p:nvSpPr>
        <p:spPr>
          <a:xfrm>
            <a:off x="6208087" y="2609539"/>
            <a:ext cx="180000" cy="180000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43A36E-614F-9E15-C9F2-ABEAC8052F06}"/>
              </a:ext>
            </a:extLst>
          </p:cNvPr>
          <p:cNvSpPr txBox="1"/>
          <p:nvPr/>
        </p:nvSpPr>
        <p:spPr>
          <a:xfrm>
            <a:off x="6158944" y="2451525"/>
            <a:ext cx="405113" cy="125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0" tIns="0" rIns="0" bIns="0" rtlCol="0" anchor="ctr" anchorCtr="0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30.04</a:t>
            </a:r>
          </a:p>
        </p:txBody>
      </p:sp>
      <p:sp>
        <p:nvSpPr>
          <p:cNvPr id="12" name="Ромб 11">
            <a:extLst>
              <a:ext uri="{FF2B5EF4-FFF2-40B4-BE49-F238E27FC236}">
                <a16:creationId xmlns:a16="http://schemas.microsoft.com/office/drawing/2014/main" id="{F397BC9F-F1C5-C16C-01F4-1B76FB09C6EC}"/>
              </a:ext>
            </a:extLst>
          </p:cNvPr>
          <p:cNvSpPr>
            <a:spLocks noChangeAspect="1"/>
          </p:cNvSpPr>
          <p:nvPr/>
        </p:nvSpPr>
        <p:spPr>
          <a:xfrm>
            <a:off x="4814788" y="2229957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4" name="Ромб 13">
            <a:extLst>
              <a:ext uri="{FF2B5EF4-FFF2-40B4-BE49-F238E27FC236}">
                <a16:creationId xmlns:a16="http://schemas.microsoft.com/office/drawing/2014/main" id="{EC478455-086D-592E-B061-16CCF7E65F68}"/>
              </a:ext>
            </a:extLst>
          </p:cNvPr>
          <p:cNvSpPr>
            <a:spLocks noChangeAspect="1"/>
          </p:cNvSpPr>
          <p:nvPr/>
        </p:nvSpPr>
        <p:spPr>
          <a:xfrm>
            <a:off x="6939877" y="2609938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FC9884-D87F-6283-232A-4CD9824D982C}"/>
              </a:ext>
            </a:extLst>
          </p:cNvPr>
          <p:cNvSpPr txBox="1"/>
          <p:nvPr/>
        </p:nvSpPr>
        <p:spPr>
          <a:xfrm>
            <a:off x="6857279" y="2463075"/>
            <a:ext cx="405113" cy="125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0" tIns="0" rIns="0" bIns="0" rtlCol="0" anchor="ctr" anchorCtr="0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0" dirty="0">
                <a:latin typeface="+mj-lt"/>
              </a:rPr>
              <a:t>02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.06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38918359-7FAC-86CB-257D-827728053F35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6388087" y="2699539"/>
            <a:ext cx="551790" cy="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Ромб 15">
            <a:extLst>
              <a:ext uri="{FF2B5EF4-FFF2-40B4-BE49-F238E27FC236}">
                <a16:creationId xmlns:a16="http://schemas.microsoft.com/office/drawing/2014/main" id="{7CEBF816-AA34-39FA-270A-8A2E89658AAE}"/>
              </a:ext>
            </a:extLst>
          </p:cNvPr>
          <p:cNvSpPr>
            <a:spLocks noChangeAspect="1"/>
          </p:cNvSpPr>
          <p:nvPr/>
        </p:nvSpPr>
        <p:spPr>
          <a:xfrm>
            <a:off x="7995523" y="3765947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A9EDDE-1B6B-5835-E5EB-AAF02F7F97F8}"/>
              </a:ext>
            </a:extLst>
          </p:cNvPr>
          <p:cNvSpPr txBox="1"/>
          <p:nvPr/>
        </p:nvSpPr>
        <p:spPr>
          <a:xfrm>
            <a:off x="7887832" y="3573708"/>
            <a:ext cx="405113" cy="125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0" tIns="0" rIns="0" bIns="0" rtlCol="0" anchor="ctr" anchorCtr="0">
            <a:spAutoFit/>
          </a:bodyPr>
          <a:lstStyle>
            <a:defPPr>
              <a:defRPr lang="ru-RU"/>
            </a:defPPr>
            <a:lvl1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rPr>
              <a:t>15.07</a:t>
            </a:r>
          </a:p>
        </p:txBody>
      </p:sp>
    </p:spTree>
    <p:extLst>
      <p:ext uri="{BB962C8B-B14F-4D97-AF65-F5344CB8AC3E}">
        <p14:creationId xmlns:p14="http://schemas.microsoft.com/office/powerpoint/2010/main" val="140087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A5EF-540B-440E-96B8-3BB96DD4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Прямая соединительная линия 182">
            <a:extLst>
              <a:ext uri="{FF2B5EF4-FFF2-40B4-BE49-F238E27FC236}">
                <a16:creationId xmlns:a16="http://schemas.microsoft.com/office/drawing/2014/main" id="{A34D6722-C67D-3411-861C-85428AE52430}"/>
              </a:ext>
            </a:extLst>
          </p:cNvPr>
          <p:cNvCxnSpPr>
            <a:cxnSpLocks/>
          </p:cNvCxnSpPr>
          <p:nvPr/>
        </p:nvCxnSpPr>
        <p:spPr>
          <a:xfrm>
            <a:off x="4557618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4" name="Прямая соединительная линия 183">
            <a:extLst>
              <a:ext uri="{FF2B5EF4-FFF2-40B4-BE49-F238E27FC236}">
                <a16:creationId xmlns:a16="http://schemas.microsoft.com/office/drawing/2014/main" id="{F703E760-ACC1-9BF2-07B2-5C0BCF13BAB3}"/>
              </a:ext>
            </a:extLst>
          </p:cNvPr>
          <p:cNvCxnSpPr>
            <a:cxnSpLocks/>
          </p:cNvCxnSpPr>
          <p:nvPr/>
        </p:nvCxnSpPr>
        <p:spPr>
          <a:xfrm>
            <a:off x="3664270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01" name="Прямая соединительная линия 200">
            <a:extLst>
              <a:ext uri="{FF2B5EF4-FFF2-40B4-BE49-F238E27FC236}">
                <a16:creationId xmlns:a16="http://schemas.microsoft.com/office/drawing/2014/main" id="{7B4489D8-85F5-3DE0-7C21-9FF2C05B7E81}"/>
              </a:ext>
            </a:extLst>
          </p:cNvPr>
          <p:cNvCxnSpPr>
            <a:cxnSpLocks/>
          </p:cNvCxnSpPr>
          <p:nvPr/>
        </p:nvCxnSpPr>
        <p:spPr>
          <a:xfrm>
            <a:off x="2734052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90" name="Прямая соединительная линия 189">
            <a:extLst>
              <a:ext uri="{FF2B5EF4-FFF2-40B4-BE49-F238E27FC236}">
                <a16:creationId xmlns:a16="http://schemas.microsoft.com/office/drawing/2014/main" id="{5B45B2A0-4E96-A4B8-AA8B-7ED7DEB22D2B}"/>
              </a:ext>
            </a:extLst>
          </p:cNvPr>
          <p:cNvCxnSpPr>
            <a:cxnSpLocks/>
          </p:cNvCxnSpPr>
          <p:nvPr/>
        </p:nvCxnSpPr>
        <p:spPr>
          <a:xfrm>
            <a:off x="9981828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5" name="Прямая соединительная линия 184">
            <a:extLst>
              <a:ext uri="{FF2B5EF4-FFF2-40B4-BE49-F238E27FC236}">
                <a16:creationId xmlns:a16="http://schemas.microsoft.com/office/drawing/2014/main" id="{2639EAA2-1A31-914A-772B-6B178BE2B399}"/>
              </a:ext>
            </a:extLst>
          </p:cNvPr>
          <p:cNvCxnSpPr>
            <a:cxnSpLocks/>
          </p:cNvCxnSpPr>
          <p:nvPr/>
        </p:nvCxnSpPr>
        <p:spPr>
          <a:xfrm>
            <a:off x="8217574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6" name="Прямая соединительная линия 185">
            <a:extLst>
              <a:ext uri="{FF2B5EF4-FFF2-40B4-BE49-F238E27FC236}">
                <a16:creationId xmlns:a16="http://schemas.microsoft.com/office/drawing/2014/main" id="{714F4505-7356-FDC5-0781-0A23E62BAA76}"/>
              </a:ext>
            </a:extLst>
          </p:cNvPr>
          <p:cNvCxnSpPr>
            <a:cxnSpLocks/>
          </p:cNvCxnSpPr>
          <p:nvPr/>
        </p:nvCxnSpPr>
        <p:spPr>
          <a:xfrm>
            <a:off x="7357888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8" name="Прямая соединительная линия 187">
            <a:extLst>
              <a:ext uri="{FF2B5EF4-FFF2-40B4-BE49-F238E27FC236}">
                <a16:creationId xmlns:a16="http://schemas.microsoft.com/office/drawing/2014/main" id="{2C4DEA52-F589-F691-4A38-3E5B5B50F388}"/>
              </a:ext>
            </a:extLst>
          </p:cNvPr>
          <p:cNvCxnSpPr>
            <a:cxnSpLocks/>
          </p:cNvCxnSpPr>
          <p:nvPr/>
        </p:nvCxnSpPr>
        <p:spPr>
          <a:xfrm>
            <a:off x="6426068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6605888-4598-B9F5-B087-FD2C634C8F2A}"/>
              </a:ext>
            </a:extLst>
          </p:cNvPr>
          <p:cNvSpPr txBox="1"/>
          <p:nvPr/>
        </p:nvSpPr>
        <p:spPr>
          <a:xfrm>
            <a:off x="4693149" y="472687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Май 27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B8B3CBA-6666-EA31-B9D1-B8FBF471D612}"/>
              </a:ext>
            </a:extLst>
          </p:cNvPr>
          <p:cNvSpPr txBox="1"/>
          <p:nvPr/>
        </p:nvSpPr>
        <p:spPr>
          <a:xfrm>
            <a:off x="5624969" y="472687"/>
            <a:ext cx="665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Июн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27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4F480E3-B0BF-F69C-DDE3-77622E4420EB}"/>
              </a:ext>
            </a:extLst>
          </p:cNvPr>
          <p:cNvSpPr txBox="1"/>
          <p:nvPr/>
        </p:nvSpPr>
        <p:spPr>
          <a:xfrm>
            <a:off x="6561599" y="472687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Июл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27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4E035CC-25BC-8D5A-F035-6F72656A1C5C}"/>
              </a:ext>
            </a:extLst>
          </p:cNvPr>
          <p:cNvSpPr txBox="1"/>
          <p:nvPr/>
        </p:nvSpPr>
        <p:spPr>
          <a:xfrm>
            <a:off x="7493419" y="472687"/>
            <a:ext cx="588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Авг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27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78B95F7-33E9-60B8-0B97-2E2DF1428380}"/>
              </a:ext>
            </a:extLst>
          </p:cNvPr>
          <p:cNvSpPr txBox="1"/>
          <p:nvPr/>
        </p:nvSpPr>
        <p:spPr>
          <a:xfrm>
            <a:off x="8353105" y="472687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Сен 27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C205A6A6-556E-C6AE-6FDF-253C52AA32CD}"/>
              </a:ext>
            </a:extLst>
          </p:cNvPr>
          <p:cNvSpPr txBox="1"/>
          <p:nvPr/>
        </p:nvSpPr>
        <p:spPr>
          <a:xfrm>
            <a:off x="3799801" y="472687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Апр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27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23B7CB0-7985-1CE5-3E51-06E3E19F05F5}"/>
              </a:ext>
            </a:extLst>
          </p:cNvPr>
          <p:cNvSpPr txBox="1"/>
          <p:nvPr/>
        </p:nvSpPr>
        <p:spPr>
          <a:xfrm>
            <a:off x="2869583" y="472687"/>
            <a:ext cx="6591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Мар 27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1BC25D06-A9E2-7F35-82AD-BABA13D65698}"/>
              </a:ext>
            </a:extLst>
          </p:cNvPr>
          <p:cNvSpPr txBox="1"/>
          <p:nvPr/>
        </p:nvSpPr>
        <p:spPr>
          <a:xfrm>
            <a:off x="1968219" y="472687"/>
            <a:ext cx="6303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Фев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27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BC97B6A1-C62C-36FF-A09C-45AD4E39FC76}"/>
              </a:ext>
            </a:extLst>
          </p:cNvPr>
          <p:cNvSpPr txBox="1"/>
          <p:nvPr/>
        </p:nvSpPr>
        <p:spPr>
          <a:xfrm>
            <a:off x="1082885" y="472687"/>
            <a:ext cx="614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Янв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27</a:t>
            </a:r>
          </a:p>
        </p:txBody>
      </p:sp>
      <p:sp>
        <p:nvSpPr>
          <p:cNvPr id="205" name="Скругленный прямоугольник 204">
            <a:extLst>
              <a:ext uri="{FF2B5EF4-FFF2-40B4-BE49-F238E27FC236}">
                <a16:creationId xmlns:a16="http://schemas.microsoft.com/office/drawing/2014/main" id="{8B7C0C70-EDDF-772B-CA24-3C5FD666606D}"/>
              </a:ext>
            </a:extLst>
          </p:cNvPr>
          <p:cNvSpPr/>
          <p:nvPr/>
        </p:nvSpPr>
        <p:spPr>
          <a:xfrm>
            <a:off x="354423" y="793405"/>
            <a:ext cx="360000" cy="1265834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</a:ln>
          <a:effectLst/>
        </p:spPr>
        <p:txBody>
          <a:bodyPr vert="vert270" wrap="none" lIns="72000" tIns="72000" rIns="72000" bIns="72000" rtlCol="0" anchor="ctr"/>
          <a:lstStyle/>
          <a:p>
            <a:pPr algn="ctr" defTabSz="839842">
              <a:lnSpc>
                <a:spcPct val="80000"/>
              </a:lnSpc>
              <a:defRPr/>
            </a:pPr>
            <a:r>
              <a:rPr lang="ru-RU" sz="1200" kern="0" dirty="0">
                <a:solidFill>
                  <a:srgbClr val="FFFFFF"/>
                </a:solidFill>
                <a:latin typeface="Calibri" panose="020F0502020204030204"/>
                <a:cs typeface="Calibri Light" panose="020F0302020204030204" pitchFamily="34" charset="0"/>
              </a:rPr>
              <a:t>Целевой </a:t>
            </a:r>
            <a:r>
              <a:rPr lang="en-US" sz="1200" kern="0" dirty="0">
                <a:solidFill>
                  <a:srgbClr val="FFFFFF"/>
                </a:solidFill>
                <a:latin typeface="Calibri" panose="020F0502020204030204"/>
                <a:cs typeface="Calibri Light" panose="020F0302020204030204" pitchFamily="34" charset="0"/>
              </a:rPr>
              <a:t>BI</a:t>
            </a:r>
            <a:endParaRPr lang="ru-RU" sz="1200" kern="0" dirty="0">
              <a:solidFill>
                <a:srgbClr val="FFFFFF"/>
              </a:solidFill>
              <a:latin typeface="Calibri" panose="020F0502020204030204"/>
              <a:cs typeface="Calibri Light" panose="020F0302020204030204" pitchFamily="34" charset="0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08536634-BF17-34AE-0662-BA0848ABB5F1}"/>
              </a:ext>
            </a:extLst>
          </p:cNvPr>
          <p:cNvSpPr txBox="1"/>
          <p:nvPr/>
        </p:nvSpPr>
        <p:spPr>
          <a:xfrm>
            <a:off x="9240041" y="472687"/>
            <a:ext cx="606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Окт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 27</a:t>
            </a:r>
          </a:p>
        </p:txBody>
      </p:sp>
      <p:cxnSp>
        <p:nvCxnSpPr>
          <p:cNvPr id="209" name="Прямая соединительная линия 208">
            <a:extLst>
              <a:ext uri="{FF2B5EF4-FFF2-40B4-BE49-F238E27FC236}">
                <a16:creationId xmlns:a16="http://schemas.microsoft.com/office/drawing/2014/main" id="{0EB6923C-CCE9-3822-373C-DFD41A426D77}"/>
              </a:ext>
            </a:extLst>
          </p:cNvPr>
          <p:cNvCxnSpPr>
            <a:cxnSpLocks/>
          </p:cNvCxnSpPr>
          <p:nvPr/>
        </p:nvCxnSpPr>
        <p:spPr>
          <a:xfrm>
            <a:off x="5489438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10" name="Прямая соединительная линия 209">
            <a:extLst>
              <a:ext uri="{FF2B5EF4-FFF2-40B4-BE49-F238E27FC236}">
                <a16:creationId xmlns:a16="http://schemas.microsoft.com/office/drawing/2014/main" id="{EA1827AC-405F-8D4A-AB60-A4E14E0E84C6}"/>
              </a:ext>
            </a:extLst>
          </p:cNvPr>
          <p:cNvCxnSpPr>
            <a:cxnSpLocks/>
          </p:cNvCxnSpPr>
          <p:nvPr/>
        </p:nvCxnSpPr>
        <p:spPr>
          <a:xfrm>
            <a:off x="1832688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13" name="Прямоугольник 212">
            <a:extLst>
              <a:ext uri="{FF2B5EF4-FFF2-40B4-BE49-F238E27FC236}">
                <a16:creationId xmlns:a16="http://schemas.microsoft.com/office/drawing/2014/main" id="{8B2D1247-F951-ADDA-A20F-3D6BDA18BB06}"/>
              </a:ext>
            </a:extLst>
          </p:cNvPr>
          <p:cNvSpPr/>
          <p:nvPr/>
        </p:nvSpPr>
        <p:spPr>
          <a:xfrm>
            <a:off x="0" y="6557177"/>
            <a:ext cx="4140000" cy="300823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Ромб 213">
            <a:extLst>
              <a:ext uri="{FF2B5EF4-FFF2-40B4-BE49-F238E27FC236}">
                <a16:creationId xmlns:a16="http://schemas.microsoft.com/office/drawing/2014/main" id="{AE4F0FB8-AEB8-2560-7FD2-2700FB518FDA}"/>
              </a:ext>
            </a:extLst>
          </p:cNvPr>
          <p:cNvSpPr/>
          <p:nvPr/>
        </p:nvSpPr>
        <p:spPr>
          <a:xfrm>
            <a:off x="32531" y="6655862"/>
            <a:ext cx="89505" cy="89505"/>
          </a:xfrm>
          <a:prstGeom prst="diamond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76C9305-90F2-3A6D-4714-09285A85003B}"/>
              </a:ext>
            </a:extLst>
          </p:cNvPr>
          <p:cNvSpPr txBox="1"/>
          <p:nvPr/>
        </p:nvSpPr>
        <p:spPr>
          <a:xfrm>
            <a:off x="151974" y="6616105"/>
            <a:ext cx="802696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2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П</a:t>
            </a: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росроченная веха или зависимость</a:t>
            </a:r>
          </a:p>
        </p:txBody>
      </p:sp>
      <p:sp>
        <p:nvSpPr>
          <p:cNvPr id="216" name="Ромб 215">
            <a:extLst>
              <a:ext uri="{FF2B5EF4-FFF2-40B4-BE49-F238E27FC236}">
                <a16:creationId xmlns:a16="http://schemas.microsoft.com/office/drawing/2014/main" id="{9BA9E547-EED2-CB10-C4CD-E31463E1FFD4}"/>
              </a:ext>
            </a:extLst>
          </p:cNvPr>
          <p:cNvSpPr/>
          <p:nvPr/>
        </p:nvSpPr>
        <p:spPr>
          <a:xfrm>
            <a:off x="898664" y="6655862"/>
            <a:ext cx="89505" cy="89505"/>
          </a:xfrm>
          <a:prstGeom prst="diamond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EEC9B27-83EB-2FD1-4665-9CC53004F3D7}"/>
              </a:ext>
            </a:extLst>
          </p:cNvPr>
          <p:cNvSpPr txBox="1"/>
          <p:nvPr/>
        </p:nvSpPr>
        <p:spPr>
          <a:xfrm>
            <a:off x="1021756" y="6616105"/>
            <a:ext cx="802696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Выполненная веха или зависимость</a:t>
            </a:r>
          </a:p>
        </p:txBody>
      </p:sp>
      <p:sp>
        <p:nvSpPr>
          <p:cNvPr id="218" name="Ромб 217">
            <a:extLst>
              <a:ext uri="{FF2B5EF4-FFF2-40B4-BE49-F238E27FC236}">
                <a16:creationId xmlns:a16="http://schemas.microsoft.com/office/drawing/2014/main" id="{19BBB6C6-0829-7479-192B-42822AA202B9}"/>
              </a:ext>
            </a:extLst>
          </p:cNvPr>
          <p:cNvSpPr/>
          <p:nvPr/>
        </p:nvSpPr>
        <p:spPr>
          <a:xfrm>
            <a:off x="1735650" y="6655862"/>
            <a:ext cx="89505" cy="89505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D5F5A559-7DDE-8EC1-0B3E-2CF85CE91848}"/>
              </a:ext>
            </a:extLst>
          </p:cNvPr>
          <p:cNvSpPr txBox="1"/>
          <p:nvPr/>
        </p:nvSpPr>
        <p:spPr>
          <a:xfrm>
            <a:off x="1858040" y="6616105"/>
            <a:ext cx="661740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Плановая  веха или зависимость</a:t>
            </a:r>
          </a:p>
        </p:txBody>
      </p:sp>
      <p:sp>
        <p:nvSpPr>
          <p:cNvPr id="220" name="Ромб 219">
            <a:extLst>
              <a:ext uri="{FF2B5EF4-FFF2-40B4-BE49-F238E27FC236}">
                <a16:creationId xmlns:a16="http://schemas.microsoft.com/office/drawing/2014/main" id="{F0A91B98-3ABC-48E2-376C-42C3F1588F47}"/>
              </a:ext>
            </a:extLst>
          </p:cNvPr>
          <p:cNvSpPr/>
          <p:nvPr/>
        </p:nvSpPr>
        <p:spPr>
          <a:xfrm>
            <a:off x="2496930" y="6655862"/>
            <a:ext cx="89505" cy="89505"/>
          </a:xfrm>
          <a:prstGeom prst="diamond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344EC79-23A5-7DF5-3A25-D52E660B82C6}"/>
              </a:ext>
            </a:extLst>
          </p:cNvPr>
          <p:cNvSpPr txBox="1"/>
          <p:nvPr/>
        </p:nvSpPr>
        <p:spPr>
          <a:xfrm>
            <a:off x="2648371" y="6619973"/>
            <a:ext cx="880165" cy="1751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Веха или зависимость под риском</a:t>
            </a:r>
          </a:p>
        </p:txBody>
      </p:sp>
      <p:cxnSp>
        <p:nvCxnSpPr>
          <p:cNvPr id="232" name="Прямая соединительная линия 231">
            <a:extLst>
              <a:ext uri="{FF2B5EF4-FFF2-40B4-BE49-F238E27FC236}">
                <a16:creationId xmlns:a16="http://schemas.microsoft.com/office/drawing/2014/main" id="{F4715D72-C405-8E65-D097-203FF1CDFE59}"/>
              </a:ext>
            </a:extLst>
          </p:cNvPr>
          <p:cNvCxnSpPr>
            <a:cxnSpLocks/>
          </p:cNvCxnSpPr>
          <p:nvPr/>
        </p:nvCxnSpPr>
        <p:spPr>
          <a:xfrm>
            <a:off x="9104510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39" name="Пятиугольник 238">
            <a:extLst>
              <a:ext uri="{FF2B5EF4-FFF2-40B4-BE49-F238E27FC236}">
                <a16:creationId xmlns:a16="http://schemas.microsoft.com/office/drawing/2014/main" id="{BE0525AD-C44F-B7D1-361A-C629097C957A}"/>
              </a:ext>
            </a:extLst>
          </p:cNvPr>
          <p:cNvSpPr/>
          <p:nvPr/>
        </p:nvSpPr>
        <p:spPr>
          <a:xfrm>
            <a:off x="941107" y="1096625"/>
            <a:ext cx="8163403" cy="2880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lvl="0" defTabSz="840072">
              <a:lnSpc>
                <a:spcPct val="80000"/>
              </a:lnSpc>
              <a:defRPr/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cs typeface="Calibri Light" panose="020F0302020204030204" pitchFamily="34" charset="0"/>
                <a:sym typeface="Helvetica Neue"/>
              </a:rPr>
              <a:t>Устранение блокеров миграции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DB932-35C9-6A02-0E11-6E2D4AD4D5BD}"/>
              </a:ext>
            </a:extLst>
          </p:cNvPr>
          <p:cNvSpPr txBox="1"/>
          <p:nvPr/>
        </p:nvSpPr>
        <p:spPr>
          <a:xfrm>
            <a:off x="3792986" y="6616107"/>
            <a:ext cx="432000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Перенос вехи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CA0D0BA-E061-F44A-4506-77D5F3348F9F}"/>
              </a:ext>
            </a:extLst>
          </p:cNvPr>
          <p:cNvCxnSpPr>
            <a:cxnSpLocks/>
          </p:cNvCxnSpPr>
          <p:nvPr/>
        </p:nvCxnSpPr>
        <p:spPr>
          <a:xfrm flipV="1">
            <a:off x="3503781" y="6758736"/>
            <a:ext cx="236538" cy="1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0591760-D6D3-B34E-38E4-2419B158FF27}"/>
              </a:ext>
            </a:extLst>
          </p:cNvPr>
          <p:cNvCxnSpPr>
            <a:cxnSpLocks/>
          </p:cNvCxnSpPr>
          <p:nvPr/>
        </p:nvCxnSpPr>
        <p:spPr>
          <a:xfrm flipH="1" flipV="1">
            <a:off x="3503781" y="6657136"/>
            <a:ext cx="236538" cy="1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893EB4B-A94A-11B2-89E6-63D47CD25F0D}"/>
              </a:ext>
            </a:extLst>
          </p:cNvPr>
          <p:cNvSpPr txBox="1"/>
          <p:nvPr/>
        </p:nvSpPr>
        <p:spPr>
          <a:xfrm>
            <a:off x="10117359" y="472687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Ноя 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B19D7E-DCCD-A07F-5E45-D8E1911421C7}"/>
              </a:ext>
            </a:extLst>
          </p:cNvPr>
          <p:cNvSpPr txBox="1"/>
          <p:nvPr/>
        </p:nvSpPr>
        <p:spPr>
          <a:xfrm>
            <a:off x="11010706" y="472687"/>
            <a:ext cx="6174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Дек 27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0ED16793-991B-2ADE-07C1-CD8C01C894C2}"/>
              </a:ext>
            </a:extLst>
          </p:cNvPr>
          <p:cNvSpPr txBox="1">
            <a:spLocks/>
          </p:cNvSpPr>
          <p:nvPr/>
        </p:nvSpPr>
        <p:spPr>
          <a:xfrm>
            <a:off x="220692" y="115648"/>
            <a:ext cx="11070160" cy="4669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1" u="none" strike="noStrike" cap="none" spc="0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SB Sans Display Semibold" panose="020B0503040504020204" pitchFamily="34" charset="0"/>
                <a:ea typeface="+mj-ea"/>
                <a:cs typeface="SB Sans Display Semibold" panose="020B0503040504020204" pitchFamily="34" charset="0"/>
              </a:defRPr>
            </a:lvl1pPr>
          </a:lstStyle>
          <a:p>
            <a:pPr lvl="0">
              <a:defRPr/>
            </a:pPr>
            <a:r>
              <a:rPr lang="ru-RU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Миграция с </a:t>
            </a:r>
            <a:r>
              <a:rPr lang="en-US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Qlik </a:t>
            </a:r>
            <a:r>
              <a:rPr lang="ru-RU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на </a:t>
            </a:r>
            <a:r>
              <a:rPr lang="en-US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BI</a:t>
            </a:r>
            <a:r>
              <a:rPr lang="ru-RU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-систему</a:t>
            </a:r>
            <a:r>
              <a:rPr lang="en-US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 </a:t>
            </a:r>
            <a:r>
              <a:rPr lang="ru-RU" sz="16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собственной разработки. Проект 1 (1/2)</a:t>
            </a:r>
            <a:endParaRPr lang="en-US" sz="1600" b="0" dirty="0">
              <a:solidFill>
                <a:srgbClr val="3F3F3F"/>
              </a:solidFill>
              <a:latin typeface="SB Sans Text" panose="020B0503040504020204" pitchFamily="34" charset="0"/>
              <a:cs typeface="SB Sans Text" panose="020B0503040504020204" pitchFamily="34" charset="0"/>
            </a:endParaRPr>
          </a:p>
        </p:txBody>
      </p:sp>
      <p:sp>
        <p:nvSpPr>
          <p:cNvPr id="128" name="Пятиугольник 127">
            <a:extLst>
              <a:ext uri="{FF2B5EF4-FFF2-40B4-BE49-F238E27FC236}">
                <a16:creationId xmlns:a16="http://schemas.microsoft.com/office/drawing/2014/main" id="{5090EF38-2C42-EEB7-4DC5-EFA1A48FA158}"/>
              </a:ext>
            </a:extLst>
          </p:cNvPr>
          <p:cNvSpPr/>
          <p:nvPr/>
        </p:nvSpPr>
        <p:spPr>
          <a:xfrm>
            <a:off x="941107" y="1651463"/>
            <a:ext cx="10807194" cy="2880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cs typeface="Calibri Light" panose="020F0302020204030204" pitchFamily="34" charset="0"/>
                <a:sym typeface="Helvetica Neue"/>
              </a:rPr>
              <a:t>Разработка по другим </a:t>
            </a:r>
            <a:r>
              <a:rPr 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cs typeface="Calibri Light" panose="020F0302020204030204" pitchFamily="34" charset="0"/>
                <a:sym typeface="Helvetica Neue"/>
              </a:rPr>
              <a:t>CR</a:t>
            </a: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cs typeface="Calibri Light" panose="020F0302020204030204" pitchFamily="34" charset="0"/>
                <a:sym typeface="Helvetica Neue"/>
              </a:rPr>
              <a:t>, важным для клиента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cs typeface="Calibri Light" panose="020F0302020204030204" pitchFamily="34" charset="0"/>
              <a:sym typeface="Helvetica Neue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4E655FD-EE90-4F4E-1580-E695F721FFE8}"/>
              </a:ext>
            </a:extLst>
          </p:cNvPr>
          <p:cNvCxnSpPr>
            <a:cxnSpLocks/>
          </p:cNvCxnSpPr>
          <p:nvPr/>
        </p:nvCxnSpPr>
        <p:spPr>
          <a:xfrm>
            <a:off x="10875176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49" name="Скругленный прямоугольник 48">
            <a:extLst>
              <a:ext uri="{FF2B5EF4-FFF2-40B4-BE49-F238E27FC236}">
                <a16:creationId xmlns:a16="http://schemas.microsoft.com/office/drawing/2014/main" id="{ABC27C9F-E946-63FB-F9A4-505B99CFC316}"/>
              </a:ext>
            </a:extLst>
          </p:cNvPr>
          <p:cNvSpPr/>
          <p:nvPr/>
        </p:nvSpPr>
        <p:spPr>
          <a:xfrm>
            <a:off x="354126" y="2161466"/>
            <a:ext cx="360000" cy="1219909"/>
          </a:xfrm>
          <a:prstGeom prst="roundRect">
            <a:avLst/>
          </a:prstGeom>
          <a:solidFill>
            <a:srgbClr val="7030A0"/>
          </a:solidFill>
          <a:ln w="12700" cap="flat" cmpd="sng" algn="ctr">
            <a:noFill/>
            <a:prstDash val="solid"/>
          </a:ln>
          <a:effectLst/>
        </p:spPr>
        <p:txBody>
          <a:bodyPr vert="vert270" wrap="square" lIns="72000" tIns="72000" rIns="72000" bIns="72000" rtlCol="0" anchor="ctr"/>
          <a:lstStyle/>
          <a:p>
            <a:pPr marL="0" marR="0" lvl="0" indent="0" algn="ctr" defTabSz="839842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0" dirty="0">
                <a:solidFill>
                  <a:srgbClr val="FFFFFF"/>
                </a:solidFill>
                <a:latin typeface="Calibri" panose="020F0502020204030204"/>
                <a:cs typeface="Calibri Light" panose="020F0302020204030204" pitchFamily="34" charset="0"/>
              </a:rPr>
              <a:t>Архитектура и инфраструктура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0" name="Скругленный прямоугольник 49">
            <a:extLst>
              <a:ext uri="{FF2B5EF4-FFF2-40B4-BE49-F238E27FC236}">
                <a16:creationId xmlns:a16="http://schemas.microsoft.com/office/drawing/2014/main" id="{ABC27C9F-E946-63FB-F9A4-505B99CFC316}"/>
              </a:ext>
            </a:extLst>
          </p:cNvPr>
          <p:cNvSpPr/>
          <p:nvPr/>
        </p:nvSpPr>
        <p:spPr>
          <a:xfrm>
            <a:off x="360417" y="3483602"/>
            <a:ext cx="360000" cy="2967119"/>
          </a:xfrm>
          <a:prstGeom prst="roundRect">
            <a:avLst/>
          </a:prstGeom>
          <a:solidFill>
            <a:srgbClr val="7030A0"/>
          </a:solidFill>
          <a:ln w="12700" cap="flat" cmpd="sng" algn="ctr">
            <a:noFill/>
            <a:prstDash val="solid"/>
          </a:ln>
          <a:effectLst/>
        </p:spPr>
        <p:txBody>
          <a:bodyPr vert="vert270" wrap="square" lIns="72000" tIns="72000" rIns="72000" bIns="72000" rtlCol="0" anchor="ctr"/>
          <a:lstStyle/>
          <a:p>
            <a:pPr marL="0" marR="0" lvl="0" indent="0" algn="ctr" defTabSz="839842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0" dirty="0">
                <a:solidFill>
                  <a:srgbClr val="FFFFFF"/>
                </a:solidFill>
                <a:latin typeface="Calibri" panose="020F0502020204030204"/>
                <a:cs typeface="Calibri Light" panose="020F0302020204030204" pitchFamily="34" charset="0"/>
              </a:rPr>
              <a:t>Отчёты и пользователи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1" name="Пятиугольник 50">
            <a:extLst>
              <a:ext uri="{FF2B5EF4-FFF2-40B4-BE49-F238E27FC236}">
                <a16:creationId xmlns:a16="http://schemas.microsoft.com/office/drawing/2014/main" id="{1970D6A7-F604-2DE5-8AE0-D7F1EA632154}"/>
              </a:ext>
            </a:extLst>
          </p:cNvPr>
          <p:cNvSpPr/>
          <p:nvPr/>
        </p:nvSpPr>
        <p:spPr>
          <a:xfrm>
            <a:off x="1028883" y="3556590"/>
            <a:ext cx="1715528" cy="461139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Получение доступов бизнес-приёмки (владельцев) и </a:t>
            </a:r>
            <a:r>
              <a:rPr lang="ru-RU" sz="10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ит</a:t>
            </a: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-сопровождения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52" name="Пятиугольник 51">
            <a:extLst>
              <a:ext uri="{FF2B5EF4-FFF2-40B4-BE49-F238E27FC236}">
                <a16:creationId xmlns:a16="http://schemas.microsoft.com/office/drawing/2014/main" id="{1970D6A7-F604-2DE5-8AE0-D7F1EA632154}"/>
              </a:ext>
            </a:extLst>
          </p:cNvPr>
          <p:cNvSpPr/>
          <p:nvPr/>
        </p:nvSpPr>
        <p:spPr>
          <a:xfrm>
            <a:off x="1808888" y="4157547"/>
            <a:ext cx="1732919" cy="3365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Тестирование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54" name="Пятиугольник 53">
            <a:extLst>
              <a:ext uri="{FF2B5EF4-FFF2-40B4-BE49-F238E27FC236}">
                <a16:creationId xmlns:a16="http://schemas.microsoft.com/office/drawing/2014/main" id="{DC87FA7D-3191-0B22-C22F-C19EE814CE4B}"/>
              </a:ext>
            </a:extLst>
          </p:cNvPr>
          <p:cNvSpPr/>
          <p:nvPr/>
        </p:nvSpPr>
        <p:spPr>
          <a:xfrm>
            <a:off x="2719624" y="4564821"/>
            <a:ext cx="4548809" cy="328638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Разработка и  тестирование второй волны отчётов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55" name="Пятиугольник 54">
            <a:extLst>
              <a:ext uri="{FF2B5EF4-FFF2-40B4-BE49-F238E27FC236}">
                <a16:creationId xmlns:a16="http://schemas.microsoft.com/office/drawing/2014/main" id="{1970D6A7-F604-2DE5-8AE0-D7F1EA632154}"/>
              </a:ext>
            </a:extLst>
          </p:cNvPr>
          <p:cNvSpPr/>
          <p:nvPr/>
        </p:nvSpPr>
        <p:spPr>
          <a:xfrm>
            <a:off x="3652072" y="5366514"/>
            <a:ext cx="7200420" cy="26063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Получение доступов пользователей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56" name="Пятиугольник 55">
            <a:extLst>
              <a:ext uri="{FF2B5EF4-FFF2-40B4-BE49-F238E27FC236}">
                <a16:creationId xmlns:a16="http://schemas.microsoft.com/office/drawing/2014/main" id="{DC87FA7D-3191-0B22-C22F-C19EE814CE4B}"/>
              </a:ext>
            </a:extLst>
          </p:cNvPr>
          <p:cNvSpPr/>
          <p:nvPr/>
        </p:nvSpPr>
        <p:spPr>
          <a:xfrm>
            <a:off x="7357208" y="4960293"/>
            <a:ext cx="3494604" cy="328638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Разработка и  тестирование третьей волны отчётов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57" name="Пятиугольник 56">
            <a:extLst>
              <a:ext uri="{FF2B5EF4-FFF2-40B4-BE49-F238E27FC236}">
                <a16:creationId xmlns:a16="http://schemas.microsoft.com/office/drawing/2014/main" id="{1970D6A7-F604-2DE5-8AE0-D7F1EA632154}"/>
              </a:ext>
            </a:extLst>
          </p:cNvPr>
          <p:cNvSpPr/>
          <p:nvPr/>
        </p:nvSpPr>
        <p:spPr>
          <a:xfrm>
            <a:off x="10852492" y="6298383"/>
            <a:ext cx="996376" cy="3365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ru-RU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Выключение </a:t>
            </a:r>
            <a:endParaRPr lang="en-US" sz="1000" kern="0" dirty="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 panose="020F0302020204030204" pitchFamily="34" charset="0"/>
              <a:sym typeface="Helvetica Neue"/>
            </a:endParaRPr>
          </a:p>
          <a:p>
            <a:pPr marL="46038" defTabSz="840072">
              <a:lnSpc>
                <a:spcPct val="80000"/>
              </a:lnSpc>
            </a:pPr>
            <a:r>
              <a:rPr 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Qlik</a:t>
            </a:r>
          </a:p>
        </p:txBody>
      </p:sp>
      <p:sp>
        <p:nvSpPr>
          <p:cNvPr id="58" name="Ромб 57">
            <a:extLst>
              <a:ext uri="{FF2B5EF4-FFF2-40B4-BE49-F238E27FC236}">
                <a16:creationId xmlns:a16="http://schemas.microsoft.com/office/drawing/2014/main" id="{FCD8A5D6-36CE-A34B-BBBB-4F0A280DF958}"/>
              </a:ext>
            </a:extLst>
          </p:cNvPr>
          <p:cNvSpPr>
            <a:spLocks noChangeAspect="1"/>
          </p:cNvSpPr>
          <p:nvPr/>
        </p:nvSpPr>
        <p:spPr>
          <a:xfrm>
            <a:off x="11786261" y="6360721"/>
            <a:ext cx="180000" cy="180000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Пятиугольник 58">
            <a:extLst>
              <a:ext uri="{FF2B5EF4-FFF2-40B4-BE49-F238E27FC236}">
                <a16:creationId xmlns:a16="http://schemas.microsoft.com/office/drawing/2014/main" id="{1970D6A7-F604-2DE5-8AE0-D7F1EA632154}"/>
              </a:ext>
            </a:extLst>
          </p:cNvPr>
          <p:cNvSpPr/>
          <p:nvPr/>
        </p:nvSpPr>
        <p:spPr>
          <a:xfrm>
            <a:off x="978272" y="5801555"/>
            <a:ext cx="10825904" cy="29435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marL="46038" defTabSz="840072">
              <a:lnSpc>
                <a:spcPct val="80000"/>
              </a:lnSpc>
            </a:pPr>
            <a:r>
              <a:rPr lang="en-US" sz="1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 panose="020F0302020204030204" pitchFamily="34" charset="0"/>
                <a:sym typeface="Helvetica Neue"/>
              </a:rPr>
              <a:t>Parallel run</a:t>
            </a:r>
          </a:p>
        </p:txBody>
      </p:sp>
      <p:sp>
        <p:nvSpPr>
          <p:cNvPr id="60" name="Скругленный прямоугольник 59">
            <a:extLst>
              <a:ext uri="{FF2B5EF4-FFF2-40B4-BE49-F238E27FC236}">
                <a16:creationId xmlns:a16="http://schemas.microsoft.com/office/drawing/2014/main" id="{139F396B-B988-4EAB-1E7E-41617BFA16E5}"/>
              </a:ext>
            </a:extLst>
          </p:cNvPr>
          <p:cNvSpPr/>
          <p:nvPr/>
        </p:nvSpPr>
        <p:spPr>
          <a:xfrm>
            <a:off x="2986700" y="4011883"/>
            <a:ext cx="624670" cy="254165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+mj-lt"/>
              </a:rPr>
              <a:t>80 </a:t>
            </a:r>
            <a:r>
              <a:rPr lang="ru-RU" sz="1000" dirty="0">
                <a:latin typeface="+mj-lt"/>
              </a:rPr>
              <a:t>ч/д</a:t>
            </a:r>
          </a:p>
        </p:txBody>
      </p:sp>
      <p:sp>
        <p:nvSpPr>
          <p:cNvPr id="61" name="Скругленный прямоугольник 60">
            <a:extLst>
              <a:ext uri="{FF2B5EF4-FFF2-40B4-BE49-F238E27FC236}">
                <a16:creationId xmlns:a16="http://schemas.microsoft.com/office/drawing/2014/main" id="{139F396B-B988-4EAB-1E7E-41617BFA16E5}"/>
              </a:ext>
            </a:extLst>
          </p:cNvPr>
          <p:cNvSpPr/>
          <p:nvPr/>
        </p:nvSpPr>
        <p:spPr>
          <a:xfrm>
            <a:off x="6372507" y="4413774"/>
            <a:ext cx="798673" cy="254165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+mj-lt"/>
              </a:rPr>
              <a:t>400 </a:t>
            </a:r>
            <a:r>
              <a:rPr lang="ru-RU" sz="1000" dirty="0">
                <a:latin typeface="+mj-lt"/>
              </a:rPr>
              <a:t>ч/д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139F396B-B988-4EAB-1E7E-41617BFA16E5}"/>
              </a:ext>
            </a:extLst>
          </p:cNvPr>
          <p:cNvSpPr/>
          <p:nvPr/>
        </p:nvSpPr>
        <p:spPr>
          <a:xfrm>
            <a:off x="10202241" y="4755869"/>
            <a:ext cx="798673" cy="254165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+mj-lt"/>
              </a:rPr>
              <a:t>400 </a:t>
            </a:r>
            <a:r>
              <a:rPr lang="ru-RU" sz="1000" dirty="0">
                <a:latin typeface="+mj-lt"/>
              </a:rPr>
              <a:t>ч/д</a:t>
            </a:r>
          </a:p>
        </p:txBody>
      </p:sp>
      <p:sp>
        <p:nvSpPr>
          <p:cNvPr id="63" name="Скругленный прямоугольник 62">
            <a:extLst>
              <a:ext uri="{FF2B5EF4-FFF2-40B4-BE49-F238E27FC236}">
                <a16:creationId xmlns:a16="http://schemas.microsoft.com/office/drawing/2014/main" id="{139F396B-B988-4EAB-1E7E-41617BFA16E5}"/>
              </a:ext>
            </a:extLst>
          </p:cNvPr>
          <p:cNvSpPr/>
          <p:nvPr/>
        </p:nvSpPr>
        <p:spPr>
          <a:xfrm>
            <a:off x="10926124" y="5611709"/>
            <a:ext cx="798673" cy="254165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+mj-lt"/>
              </a:rPr>
              <a:t>100 </a:t>
            </a:r>
            <a:r>
              <a:rPr lang="ru-RU" sz="1000" dirty="0">
                <a:latin typeface="+mj-lt"/>
              </a:rPr>
              <a:t>ч/д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8ED5686-4F07-CAD5-924C-BEFBD6B7E04D}"/>
              </a:ext>
            </a:extLst>
          </p:cNvPr>
          <p:cNvSpPr txBox="1"/>
          <p:nvPr/>
        </p:nvSpPr>
        <p:spPr>
          <a:xfrm>
            <a:off x="4994028" y="2206301"/>
            <a:ext cx="5839755" cy="1892182"/>
          </a:xfrm>
          <a:prstGeom prst="rect">
            <a:avLst/>
          </a:prstGeom>
          <a:solidFill>
            <a:srgbClr val="ECE2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  <a:lvl1pPr marR="0" lvl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100" b="1">
                <a:solidFill>
                  <a:prstClr val="black"/>
                </a:solidFill>
                <a:latin typeface="+mj-lt"/>
              </a:defRPr>
            </a:lvl1pPr>
          </a:lstStyle>
          <a:p>
            <a:r>
              <a:rPr lang="en-US" b="0" dirty="0"/>
              <a:t>1</a:t>
            </a:r>
            <a:r>
              <a:rPr lang="ru-RU" b="0" dirty="0"/>
              <a:t> Волна</a:t>
            </a:r>
            <a:r>
              <a:rPr lang="en-US" b="0" dirty="0"/>
              <a:t> </a:t>
            </a:r>
            <a:r>
              <a:rPr lang="ru-RU" b="0" dirty="0"/>
              <a:t>– 2-3 новых отчёта со всеми возможностями новой </a:t>
            </a:r>
            <a:r>
              <a:rPr lang="en-US" b="0" dirty="0"/>
              <a:t>BI </a:t>
            </a:r>
            <a:r>
              <a:rPr lang="ru-RU" b="0" dirty="0"/>
              <a:t>системы, например, мобильное приложение.</a:t>
            </a:r>
          </a:p>
          <a:p>
            <a:r>
              <a:rPr lang="ru-RU" b="0" dirty="0"/>
              <a:t>А) Получение опыта разработчиков, администраторов, поддержки, бизнес-владельцев, </a:t>
            </a:r>
          </a:p>
          <a:p>
            <a:r>
              <a:rPr lang="ru-RU" b="0" dirty="0"/>
              <a:t>Б) Получение наглядного целевого решения, на которое будем ориентироваться</a:t>
            </a:r>
          </a:p>
          <a:p>
            <a:r>
              <a:rPr lang="ru-RU" b="0" dirty="0"/>
              <a:t>2 Волна – перенос 60% существующих отчётов</a:t>
            </a:r>
          </a:p>
          <a:p>
            <a:r>
              <a:rPr lang="ru-RU" b="0" dirty="0"/>
              <a:t>3 Волна - перенос оставшихся 40% существующих отчётов</a:t>
            </a:r>
          </a:p>
        </p:txBody>
      </p:sp>
    </p:spTree>
    <p:extLst>
      <p:ext uri="{BB962C8B-B14F-4D97-AF65-F5344CB8AC3E}">
        <p14:creationId xmlns:p14="http://schemas.microsoft.com/office/powerpoint/2010/main" val="1241280316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Вендор">
      <a:dk1>
        <a:srgbClr val="3F3F3F"/>
      </a:dk1>
      <a:lt1>
        <a:sysClr val="window" lastClr="FFFFFF"/>
      </a:lt1>
      <a:dk2>
        <a:srgbClr val="262626"/>
      </a:dk2>
      <a:lt2>
        <a:srgbClr val="FFFFFF"/>
      </a:lt2>
      <a:accent1>
        <a:srgbClr val="009999"/>
      </a:accent1>
      <a:accent2>
        <a:srgbClr val="99FFCC"/>
      </a:accent2>
      <a:accent3>
        <a:srgbClr val="9085F1"/>
      </a:accent3>
      <a:accent4>
        <a:srgbClr val="320D7B"/>
      </a:accent4>
      <a:accent5>
        <a:srgbClr val="FF6A19"/>
      </a:accent5>
      <a:accent6>
        <a:srgbClr val="FF9E43"/>
      </a:accent6>
      <a:hlink>
        <a:srgbClr val="0563C1"/>
      </a:hlink>
      <a:folHlink>
        <a:srgbClr val="954F72"/>
      </a:folHlink>
    </a:clrScheme>
    <a:fontScheme name="Другая 1">
      <a:majorFont>
        <a:latin typeface="SB Sans Text"/>
        <a:ea typeface=""/>
        <a:cs typeface=""/>
      </a:majorFont>
      <a:minorFont>
        <a:latin typeface="SB Sans Displa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15743</TotalTime>
  <Words>318</Words>
  <Application>Microsoft Macintosh PowerPoint</Application>
  <PresentationFormat>Широкоэкранный</PresentationFormat>
  <Paragraphs>88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SB Sans Display</vt:lpstr>
      <vt:lpstr>SB Sans Display Semibold</vt:lpstr>
      <vt:lpstr>SB Sans Text</vt:lpstr>
      <vt:lpstr>SB Sans Text Cond</vt:lpstr>
      <vt:lpstr>1_Тема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Жарова Алина Олеговна</dc:creator>
  <cp:lastModifiedBy>Жарова Алина Олеговна</cp:lastModifiedBy>
  <cp:revision>38</cp:revision>
  <dcterms:created xsi:type="dcterms:W3CDTF">2025-07-28T13:46:46Z</dcterms:created>
  <dcterms:modified xsi:type="dcterms:W3CDTF">2026-07-15T10:25:56Z</dcterms:modified>
</cp:coreProperties>
</file>