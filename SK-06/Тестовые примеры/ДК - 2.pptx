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CA8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4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899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EC6F8-6CC1-44D0-A231-708BD946ED0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264B5-8750-45EE-B065-791D0CF705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84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50F3-2A18-594C-A690-AA1B62A15E0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17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http://3D32A592823E973038AB30DB579B21D4.dms.sberbank.ru/3D32A592823E973038AB30DB579B21D4-C76FF018FF55FD88AC43B3B8C55A925D-B9A2FE21A961696A482C6B44F5AF4D31/1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64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36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47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10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35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65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79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09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23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112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4" name="Picture 6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B346B6-5AF0-7A6D-82A3-EF8FDEE6B9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844842"/>
            <a:ext cx="12192000" cy="501315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4B55917-FF6E-EB84-CD70-683BFD7D1D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5F8">
              <a:alpha val="68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5" name="Рисунок 4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6" name="Рисунок 5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7" name="Рисунок 6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8" name="Рисунок 7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9" name="Рисунок 8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0" name="Рисунок 9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1" name="Рисунок 10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2" name="Рисунок 11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13" name="Рисунок 12" descr="http://3D32A592823E973038AB30DB579B21D4.dms.sberbank.ru/3D32A592823E973038AB30DB579B21D4-C76FF018FF55FD88AC43B3B8C55A925D-B9A2FE21A961696A482C6B44F5AF4D31/1.png"/>
          <p:cNvPicPr>
            <a:picLocks/>
          </p:cNvPicPr>
          <p:nvPr userDrawn="1"/>
        </p:nvPicPr>
        <p:blipFill>
          <a:blip r:link="rId4"/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9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E45DD-170B-4487-8FD0-012F0A2A18E7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0534-61A3-41E4-B0C8-4CCCC39C3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52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Прямая соединительная линия 216">
            <a:extLst>
              <a:ext uri="{FF2B5EF4-FFF2-40B4-BE49-F238E27FC236}">
                <a16:creationId xmlns:a16="http://schemas.microsoft.com/office/drawing/2014/main" id="{18E86598-AFC1-41E3-97AC-49BA46B1A18D}"/>
              </a:ext>
            </a:extLst>
          </p:cNvPr>
          <p:cNvCxnSpPr>
            <a:cxnSpLocks/>
          </p:cNvCxnSpPr>
          <p:nvPr/>
        </p:nvCxnSpPr>
        <p:spPr>
          <a:xfrm>
            <a:off x="6039212" y="591433"/>
            <a:ext cx="0" cy="5832000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42" name="Пятиугольник 24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690575" y="4645047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55%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44" name="Пятиугольник 24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683989" y="4983403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60%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46" name="Пятиугольник 245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690575" y="5257717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45%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48" name="Пятиугольник 247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678411" y="5552401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40%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AE138E0-46F7-2E64-DD01-45C41D16D8A0}"/>
              </a:ext>
            </a:extLst>
          </p:cNvPr>
          <p:cNvCxnSpPr>
            <a:cxnSpLocks/>
          </p:cNvCxnSpPr>
          <p:nvPr/>
        </p:nvCxnSpPr>
        <p:spPr>
          <a:xfrm>
            <a:off x="7583816" y="579526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7E2D1AB-7E57-C199-6421-C0C3180F9A0C}"/>
              </a:ext>
            </a:extLst>
          </p:cNvPr>
          <p:cNvCxnSpPr>
            <a:cxnSpLocks/>
          </p:cNvCxnSpPr>
          <p:nvPr/>
        </p:nvCxnSpPr>
        <p:spPr>
          <a:xfrm>
            <a:off x="9017304" y="655451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67085C-5B89-658D-4C81-31591108BB22}"/>
              </a:ext>
            </a:extLst>
          </p:cNvPr>
          <p:cNvSpPr txBox="1"/>
          <p:nvPr/>
        </p:nvSpPr>
        <p:spPr>
          <a:xfrm>
            <a:off x="112254" y="-6631"/>
            <a:ext cx="789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ru-RU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Миграция с </a:t>
            </a:r>
            <a:r>
              <a:rPr lang="en-US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Qlik </a:t>
            </a:r>
            <a:r>
              <a:rPr lang="ru-RU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на </a:t>
            </a:r>
            <a:r>
              <a:rPr lang="en-US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BI</a:t>
            </a:r>
            <a:r>
              <a:rPr lang="ru-RU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-систему</a:t>
            </a:r>
            <a:r>
              <a:rPr lang="en-US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 </a:t>
            </a:r>
            <a:r>
              <a:rPr lang="ru-RU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собственной разработки. Проект 2</a:t>
            </a:r>
            <a:endParaRPr lang="en-US" dirty="0">
              <a:solidFill>
                <a:srgbClr val="3F3F3F"/>
              </a:solidFill>
              <a:latin typeface="SB Sans Text" panose="020B0503040504020204" pitchFamily="34" charset="0"/>
              <a:cs typeface="SB Sans Text" panose="020B0503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C13CC-CCF4-8ABF-5484-7A76D7BE5578}"/>
              </a:ext>
            </a:extLst>
          </p:cNvPr>
          <p:cNvSpPr txBox="1"/>
          <p:nvPr/>
        </p:nvSpPr>
        <p:spPr>
          <a:xfrm>
            <a:off x="3320332" y="480095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1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q26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F342A-4BC2-0464-BCE7-EE2DB4546D3B}"/>
              </a:ext>
            </a:extLst>
          </p:cNvPr>
          <p:cNvSpPr txBox="1"/>
          <p:nvPr/>
        </p:nvSpPr>
        <p:spPr>
          <a:xfrm>
            <a:off x="4992303" y="480095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2q26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D80FE-FAE7-618E-5D13-ED99B00D55E2}"/>
              </a:ext>
            </a:extLst>
          </p:cNvPr>
          <p:cNvSpPr txBox="1"/>
          <p:nvPr/>
        </p:nvSpPr>
        <p:spPr>
          <a:xfrm>
            <a:off x="6585664" y="480381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3q26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ABC36-8890-7CAD-DBE2-467F817AB298}"/>
              </a:ext>
            </a:extLst>
          </p:cNvPr>
          <p:cNvSpPr txBox="1"/>
          <p:nvPr/>
        </p:nvSpPr>
        <p:spPr>
          <a:xfrm>
            <a:off x="7919239" y="497605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4q26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7151" y="3675653"/>
            <a:ext cx="211861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ru-RU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Отказ от</a:t>
            </a:r>
            <a:r>
              <a:rPr lang="en-US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lang="ru-RU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серверов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81" y="1249553"/>
            <a:ext cx="2633877" cy="7925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46038" lvl="0" defTabSz="840072">
              <a:lnSpc>
                <a:spcPct val="80000"/>
              </a:lnSpc>
              <a:defRPr/>
            </a:pPr>
            <a:r>
              <a:rPr lang="ru-RU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Устранение блокеров миграции в целевом продукте (</a:t>
            </a:r>
            <a:r>
              <a:rPr lang="en-US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BI </a:t>
            </a:r>
            <a:r>
              <a:rPr lang="ru-RU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 Light" panose="020F0302020204030204" pitchFamily="34" charset="0"/>
                <a:sym typeface="Helvetica Neue"/>
              </a:rPr>
              <a:t>собственной разработки)</a:t>
            </a:r>
            <a:endParaRPr lang="en-US" kern="0" dirty="0">
              <a:solidFill>
                <a:prstClr val="black">
                  <a:lumMod val="75000"/>
                  <a:lumOff val="25000"/>
                </a:prstClr>
              </a:solidFill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136" y="2517882"/>
            <a:ext cx="271401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r>
              <a:rPr lang="ru-RU" dirty="0"/>
              <a:t>Инсталляция BI (Проект 2)</a:t>
            </a:r>
          </a:p>
        </p:txBody>
      </p:sp>
      <p:cxnSp>
        <p:nvCxnSpPr>
          <p:cNvPr id="167" name="Прямая соединительная линия 166">
            <a:extLst>
              <a:ext uri="{FF2B5EF4-FFF2-40B4-BE49-F238E27FC236}">
                <a16:creationId xmlns:a16="http://schemas.microsoft.com/office/drawing/2014/main" id="{76A40661-48C6-C2D1-8F74-9CFDDE578010}"/>
              </a:ext>
            </a:extLst>
          </p:cNvPr>
          <p:cNvCxnSpPr>
            <a:cxnSpLocks/>
          </p:cNvCxnSpPr>
          <p:nvPr/>
        </p:nvCxnSpPr>
        <p:spPr>
          <a:xfrm>
            <a:off x="4450623" y="451190"/>
            <a:ext cx="0" cy="5832000"/>
          </a:xfrm>
          <a:prstGeom prst="line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18E86598-AFC1-41E3-97AC-49BA46B1A18D}"/>
              </a:ext>
            </a:extLst>
          </p:cNvPr>
          <p:cNvCxnSpPr>
            <a:cxnSpLocks/>
          </p:cNvCxnSpPr>
          <p:nvPr/>
        </p:nvCxnSpPr>
        <p:spPr>
          <a:xfrm>
            <a:off x="4495891" y="552459"/>
            <a:ext cx="54276" cy="5685486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61" name="Пятиугольник 60">
            <a:extLst>
              <a:ext uri="{FF2B5EF4-FFF2-40B4-BE49-F238E27FC236}">
                <a16:creationId xmlns:a16="http://schemas.microsoft.com/office/drawing/2014/main" id="{684EC6D4-6339-F721-37B8-BB2C2F5A7ABA}"/>
              </a:ext>
            </a:extLst>
          </p:cNvPr>
          <p:cNvSpPr/>
          <p:nvPr/>
        </p:nvSpPr>
        <p:spPr>
          <a:xfrm>
            <a:off x="3080295" y="3968942"/>
            <a:ext cx="1901759" cy="43007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Синхронизация планов миграции дашбордов и источников с  планами инсталляции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62" name="Пятиугольник 6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479748" y="4205801"/>
            <a:ext cx="1191224" cy="32373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Пилот проектов </a:t>
            </a:r>
            <a:r>
              <a:rPr lang="en-US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self-service</a:t>
            </a: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 </a:t>
            </a:r>
          </a:p>
        </p:txBody>
      </p:sp>
      <p:sp>
        <p:nvSpPr>
          <p:cNvPr id="64" name="Ромб 63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4886054" y="4093500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9" name="Пятиугольник 98">
            <a:extLst>
              <a:ext uri="{FF2B5EF4-FFF2-40B4-BE49-F238E27FC236}">
                <a16:creationId xmlns:a16="http://schemas.microsoft.com/office/drawing/2014/main" id="{684EC6D4-6339-F721-37B8-BB2C2F5A7ABA}"/>
              </a:ext>
            </a:extLst>
          </p:cNvPr>
          <p:cNvSpPr/>
          <p:nvPr/>
        </p:nvSpPr>
        <p:spPr>
          <a:xfrm>
            <a:off x="2734850" y="3196699"/>
            <a:ext cx="1778023" cy="246281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Разработка </a:t>
            </a: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редактора</a:t>
            </a: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витрин</a:t>
            </a:r>
            <a:endParaRPr lang="en-US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</a:endParaRPr>
          </a:p>
        </p:txBody>
      </p:sp>
      <p:sp>
        <p:nvSpPr>
          <p:cNvPr id="100" name="Пятиугольник 9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4551188" y="3199163"/>
            <a:ext cx="1194330" cy="243817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Доработка и </a:t>
            </a:r>
          </a:p>
          <a:p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поставка на  ПСИ</a:t>
            </a:r>
            <a:endParaRPr lang="en-US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</a:endParaRPr>
          </a:p>
        </p:txBody>
      </p:sp>
      <p:sp>
        <p:nvSpPr>
          <p:cNvPr id="101" name="Ромб 100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4418725" y="3235674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03" name="Пятиугольник 102">
            <a:extLst>
              <a:ext uri="{FF2B5EF4-FFF2-40B4-BE49-F238E27FC236}">
                <a16:creationId xmlns:a16="http://schemas.microsoft.com/office/drawing/2014/main" id="{684EC6D4-6339-F721-37B8-BB2C2F5A7ABA}"/>
              </a:ext>
            </a:extLst>
          </p:cNvPr>
          <p:cNvSpPr/>
          <p:nvPr/>
        </p:nvSpPr>
        <p:spPr>
          <a:xfrm>
            <a:off x="3497912" y="2863711"/>
            <a:ext cx="971056" cy="284533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Настройка на ПСИ стенде</a:t>
            </a:r>
            <a:endParaRPr lang="en-US" sz="100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</a:endParaRPr>
          </a:p>
        </p:txBody>
      </p:sp>
      <p:sp>
        <p:nvSpPr>
          <p:cNvPr id="104" name="Пятиугольник 10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4545764" y="2869627"/>
            <a:ext cx="1479957" cy="277404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Настройка на </a:t>
            </a:r>
          </a:p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ПРОМ</a:t>
            </a:r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</a:t>
            </a: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стенде</a:t>
            </a:r>
          </a:p>
        </p:txBody>
      </p:sp>
      <p:sp>
        <p:nvSpPr>
          <p:cNvPr id="107" name="Пятиугольник 106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32442" y="3481644"/>
            <a:ext cx="3272939" cy="161935"/>
          </a:xfrm>
          <a:prstGeom prst="homePlate">
            <a:avLst>
              <a:gd name="adj" fmla="val 51631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en-US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Legacy</a:t>
            </a: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БД выведена из эксплуатации</a:t>
            </a:r>
          </a:p>
        </p:txBody>
      </p:sp>
      <p:sp>
        <p:nvSpPr>
          <p:cNvPr id="110" name="Пятиугольник 10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01953" y="885727"/>
            <a:ext cx="1790771" cy="34739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Функционал переноса </a:t>
            </a:r>
            <a:r>
              <a:rPr lang="ru-RU" sz="1000" b="1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дашбордов</a:t>
            </a:r>
            <a:endParaRPr lang="ru-RU" sz="100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</a:endParaRPr>
          </a:p>
        </p:txBody>
      </p:sp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121917" y="831819"/>
            <a:ext cx="11654590" cy="15066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178087" y="2460232"/>
            <a:ext cx="11654590" cy="15066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20" name="Пятиугольник 11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25014" y="1645278"/>
            <a:ext cx="3324682" cy="2101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Журналирование</a:t>
            </a: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событий</a:t>
            </a:r>
          </a:p>
        </p:txBody>
      </p:sp>
      <p:sp>
        <p:nvSpPr>
          <p:cNvPr id="121" name="Пятиугольник 12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22542" y="1951683"/>
            <a:ext cx="6288135" cy="21313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Отсутствие</a:t>
            </a: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лимита на кол-во записей в визуализации</a:t>
            </a:r>
          </a:p>
        </p:txBody>
      </p:sp>
      <p:sp>
        <p:nvSpPr>
          <p:cNvPr id="122" name="Ромб 121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4421614" y="941671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7" name="Ромб 126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5949212" y="167864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9" name="Пятиугольник 128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24508" y="3690767"/>
            <a:ext cx="1739881" cy="203443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39 (-1)</a:t>
            </a:r>
          </a:p>
        </p:txBody>
      </p:sp>
      <p:sp>
        <p:nvSpPr>
          <p:cNvPr id="130" name="Пятиугольник 12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4534502" y="3680912"/>
            <a:ext cx="1485239" cy="21640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en-US" sz="1000" b="1" kern="0" dirty="0">
                <a:latin typeface="Calibri Light" panose="020F0302020204030204"/>
                <a:cs typeface="Calibri Light" panose="020F0302020204030204" pitchFamily="34" charset="0"/>
              </a:rPr>
              <a:t>3</a:t>
            </a:r>
            <a:r>
              <a:rPr lang="ru-RU" sz="1000" b="1" kern="0" dirty="0">
                <a:latin typeface="Calibri Light" panose="020F0302020204030204"/>
                <a:cs typeface="Calibri Light" panose="020F0302020204030204" pitchFamily="34" charset="0"/>
              </a:rPr>
              <a:t>7 (-2)</a:t>
            </a:r>
          </a:p>
        </p:txBody>
      </p:sp>
      <p:sp>
        <p:nvSpPr>
          <p:cNvPr id="133" name="Пятиугольник 13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054488" y="3679006"/>
            <a:ext cx="1513287" cy="21640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34 (-3)</a:t>
            </a:r>
          </a:p>
        </p:txBody>
      </p:sp>
      <p:sp>
        <p:nvSpPr>
          <p:cNvPr id="134" name="Пятиугольник 13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7612562" y="3671695"/>
            <a:ext cx="1398118" cy="21640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33 (-1)</a:t>
            </a:r>
          </a:p>
        </p:txBody>
      </p:sp>
      <p:sp>
        <p:nvSpPr>
          <p:cNvPr id="135" name="Ромб 13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4412115" y="3719023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37" name="Ромб 13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5954073" y="3693231"/>
            <a:ext cx="180000" cy="18000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38" name="Ромб 137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7497393" y="3701620"/>
            <a:ext cx="180000" cy="18000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7860BBA6-7C33-AE3F-A48E-963DD0B3C363}"/>
              </a:ext>
            </a:extLst>
          </p:cNvPr>
          <p:cNvSpPr/>
          <p:nvPr/>
        </p:nvSpPr>
        <p:spPr>
          <a:xfrm>
            <a:off x="-1" y="6557177"/>
            <a:ext cx="4224987" cy="30082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Ромб 140">
            <a:extLst>
              <a:ext uri="{FF2B5EF4-FFF2-40B4-BE49-F238E27FC236}">
                <a16:creationId xmlns:a16="http://schemas.microsoft.com/office/drawing/2014/main" id="{E50F6CF3-9FEE-66F9-94FA-1E52842D47F5}"/>
              </a:ext>
            </a:extLst>
          </p:cNvPr>
          <p:cNvSpPr/>
          <p:nvPr/>
        </p:nvSpPr>
        <p:spPr>
          <a:xfrm>
            <a:off x="32531" y="6655862"/>
            <a:ext cx="89505" cy="89505"/>
          </a:xfrm>
          <a:prstGeom prst="diamond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5550276-FCCB-5501-D279-6C92CC52687C}"/>
              </a:ext>
            </a:extLst>
          </p:cNvPr>
          <p:cNvSpPr txBox="1"/>
          <p:nvPr/>
        </p:nvSpPr>
        <p:spPr>
          <a:xfrm>
            <a:off x="151974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2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</a:t>
            </a: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росроченная веха или зависимость</a:t>
            </a:r>
          </a:p>
        </p:txBody>
      </p:sp>
      <p:sp>
        <p:nvSpPr>
          <p:cNvPr id="143" name="Ромб 142">
            <a:extLst>
              <a:ext uri="{FF2B5EF4-FFF2-40B4-BE49-F238E27FC236}">
                <a16:creationId xmlns:a16="http://schemas.microsoft.com/office/drawing/2014/main" id="{B176F2D6-588F-F6F6-62C6-6A6F90F570B7}"/>
              </a:ext>
            </a:extLst>
          </p:cNvPr>
          <p:cNvSpPr/>
          <p:nvPr/>
        </p:nvSpPr>
        <p:spPr>
          <a:xfrm>
            <a:off x="898664" y="6655862"/>
            <a:ext cx="89505" cy="89505"/>
          </a:xfrm>
          <a:prstGeom prst="diamond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997C22C-08D2-BF2E-49EA-55C234DADAED}"/>
              </a:ext>
            </a:extLst>
          </p:cNvPr>
          <p:cNvSpPr txBox="1"/>
          <p:nvPr/>
        </p:nvSpPr>
        <p:spPr>
          <a:xfrm>
            <a:off x="1021756" y="6616105"/>
            <a:ext cx="802696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Выполненная веха или зависимость</a:t>
            </a:r>
          </a:p>
        </p:txBody>
      </p:sp>
      <p:sp>
        <p:nvSpPr>
          <p:cNvPr id="145" name="Ромб 144">
            <a:extLst>
              <a:ext uri="{FF2B5EF4-FFF2-40B4-BE49-F238E27FC236}">
                <a16:creationId xmlns:a16="http://schemas.microsoft.com/office/drawing/2014/main" id="{0A93DD83-8A21-4A80-FDAA-CAE6C4ACA1B2}"/>
              </a:ext>
            </a:extLst>
          </p:cNvPr>
          <p:cNvSpPr/>
          <p:nvPr/>
        </p:nvSpPr>
        <p:spPr>
          <a:xfrm>
            <a:off x="1735650" y="6655862"/>
            <a:ext cx="89505" cy="89505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45FCF31-E2E4-DFDE-BC7A-78F5D9296586}"/>
              </a:ext>
            </a:extLst>
          </p:cNvPr>
          <p:cNvSpPr txBox="1"/>
          <p:nvPr/>
        </p:nvSpPr>
        <p:spPr>
          <a:xfrm>
            <a:off x="1858040" y="6616105"/>
            <a:ext cx="66174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Плановая  веха или зависимость</a:t>
            </a:r>
          </a:p>
        </p:txBody>
      </p:sp>
      <p:sp>
        <p:nvSpPr>
          <p:cNvPr id="147" name="Ромб 146">
            <a:extLst>
              <a:ext uri="{FF2B5EF4-FFF2-40B4-BE49-F238E27FC236}">
                <a16:creationId xmlns:a16="http://schemas.microsoft.com/office/drawing/2014/main" id="{76953675-C95C-BA14-8DD1-B18056FF2102}"/>
              </a:ext>
            </a:extLst>
          </p:cNvPr>
          <p:cNvSpPr/>
          <p:nvPr/>
        </p:nvSpPr>
        <p:spPr>
          <a:xfrm>
            <a:off x="2496930" y="6655862"/>
            <a:ext cx="89505" cy="89505"/>
          </a:xfrm>
          <a:prstGeom prst="diamond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E4E8C56-BF56-8F3B-13CE-7115B0E5C96C}"/>
              </a:ext>
            </a:extLst>
          </p:cNvPr>
          <p:cNvSpPr txBox="1"/>
          <p:nvPr/>
        </p:nvSpPr>
        <p:spPr>
          <a:xfrm>
            <a:off x="2648371" y="6619973"/>
            <a:ext cx="880165" cy="1751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Веха или зависимость под риском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18376DF-1FD0-92BD-12D9-58EEF5DB8E9B}"/>
              </a:ext>
            </a:extLst>
          </p:cNvPr>
          <p:cNvSpPr txBox="1"/>
          <p:nvPr/>
        </p:nvSpPr>
        <p:spPr>
          <a:xfrm>
            <a:off x="3792986" y="6616107"/>
            <a:ext cx="432000" cy="179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Перенос вехи</a:t>
            </a:r>
          </a:p>
        </p:txBody>
      </p:sp>
      <p:cxnSp>
        <p:nvCxnSpPr>
          <p:cNvPr id="150" name="Прямая со стрелкой 149">
            <a:extLst>
              <a:ext uri="{FF2B5EF4-FFF2-40B4-BE49-F238E27FC236}">
                <a16:creationId xmlns:a16="http://schemas.microsoft.com/office/drawing/2014/main" id="{16FB2C2B-0047-B3A1-0427-8522442C628A}"/>
              </a:ext>
            </a:extLst>
          </p:cNvPr>
          <p:cNvCxnSpPr>
            <a:cxnSpLocks/>
          </p:cNvCxnSpPr>
          <p:nvPr/>
        </p:nvCxnSpPr>
        <p:spPr>
          <a:xfrm flipV="1">
            <a:off x="3503781" y="67587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1" name="Прямая со стрелкой 150">
            <a:extLst>
              <a:ext uri="{FF2B5EF4-FFF2-40B4-BE49-F238E27FC236}">
                <a16:creationId xmlns:a16="http://schemas.microsoft.com/office/drawing/2014/main" id="{77140C36-CC5A-596A-00FC-BB3F0FAB30CC}"/>
              </a:ext>
            </a:extLst>
          </p:cNvPr>
          <p:cNvCxnSpPr>
            <a:cxnSpLocks/>
          </p:cNvCxnSpPr>
          <p:nvPr/>
        </p:nvCxnSpPr>
        <p:spPr>
          <a:xfrm flipH="1" flipV="1">
            <a:off x="3503781" y="6609010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5" name="Прямая соединительная линия 154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119438" y="3915269"/>
            <a:ext cx="11654590" cy="15066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56" name="TextBox 155"/>
          <p:cNvSpPr txBox="1"/>
          <p:nvPr/>
        </p:nvSpPr>
        <p:spPr>
          <a:xfrm>
            <a:off x="122070" y="3910417"/>
            <a:ext cx="271401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r>
              <a:rPr lang="ru-RU" dirty="0"/>
              <a:t>Миграция потребителей </a:t>
            </a:r>
            <a:r>
              <a:rPr lang="en-US" dirty="0"/>
              <a:t>Qlik </a:t>
            </a:r>
            <a:endParaRPr lang="ru-RU" dirty="0"/>
          </a:p>
        </p:txBody>
      </p:sp>
      <p:sp>
        <p:nvSpPr>
          <p:cNvPr id="161" name="Пятиугольник 16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17734" y="1290992"/>
            <a:ext cx="1737181" cy="242537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Разметка данных</a:t>
            </a:r>
          </a:p>
        </p:txBody>
      </p:sp>
      <p:sp>
        <p:nvSpPr>
          <p:cNvPr id="162" name="Ромб 161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4407123" y="1326793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63" name="Пятиугольник 16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031208" y="4660901"/>
            <a:ext cx="980759" cy="203411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385341" y="4627433"/>
            <a:ext cx="2714018" cy="268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defTabSz="840072">
              <a:lnSpc>
                <a:spcPct val="80000"/>
              </a:lnSpc>
            </a:pPr>
            <a:r>
              <a:rPr lang="ru-RU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Подключение источников данных</a:t>
            </a:r>
            <a:endParaRPr lang="ru-RU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68" name="Пятиугольник 167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072722" y="4649506"/>
            <a:ext cx="1479611" cy="22147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20%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70" name="Пятиугольник 16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7588799" y="4649507"/>
            <a:ext cx="1428506" cy="200764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35%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72" name="Пятиугольник 17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062573" y="4646628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40%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73" name="Ромб 172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582657" y="4667856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4" name="Ромб 173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8932379" y="4674468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5" name="Ромб 17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5939549" y="4672738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6" name="Ромб 175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7471929" y="4675898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390494" y="4946742"/>
            <a:ext cx="2714018" cy="2753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defTabSz="840072">
              <a:lnSpc>
                <a:spcPct val="80000"/>
              </a:lnSpc>
            </a:pPr>
            <a:r>
              <a:rPr lang="ru-RU" dirty="0"/>
              <a:t>Воссоздание витрин данных</a:t>
            </a:r>
            <a:endParaRPr lang="ru-RU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91149" y="4579429"/>
            <a:ext cx="11654590" cy="15066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186" name="Пятиугольник 185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038044" y="4984984"/>
            <a:ext cx="967338" cy="20460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87" name="Пятиугольник 186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066136" y="4987862"/>
            <a:ext cx="1479611" cy="22147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88" name="Пятиугольник 187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7582213" y="4987863"/>
            <a:ext cx="1428506" cy="200764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89" name="Пятиугольник 188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055987" y="4984984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45%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90" name="Ромб 189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576071" y="5006212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1" name="Ромб 190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8925793" y="5012824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2" name="Ромб 191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5932963" y="5011094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3" name="Ромб 192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7465343" y="5014254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122516" y="5508850"/>
            <a:ext cx="11702541" cy="23993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198" name="TextBox 197"/>
          <p:cNvSpPr txBox="1"/>
          <p:nvPr/>
        </p:nvSpPr>
        <p:spPr>
          <a:xfrm>
            <a:off x="390494" y="5260598"/>
            <a:ext cx="2599104" cy="2646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defTabSz="840072">
              <a:lnSpc>
                <a:spcPct val="80000"/>
              </a:lnSpc>
            </a:pPr>
            <a:r>
              <a:rPr lang="ru-RU" dirty="0"/>
              <a:t>Воссоздание </a:t>
            </a:r>
            <a:r>
              <a:rPr lang="ru-RU" dirty="0" err="1"/>
              <a:t>дашбордов</a:t>
            </a:r>
            <a:endParaRPr lang="ru-RU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01" name="Пятиугольник 20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698991" y="5267392"/>
            <a:ext cx="1312180" cy="179266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02" name="Пятиугольник 20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8036021" y="5283867"/>
            <a:ext cx="1612716" cy="17372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30%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582657" y="5280526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50980" y="5550160"/>
            <a:ext cx="518561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r>
              <a:rPr lang="ru-RU" dirty="0"/>
              <a:t>Воссоздание </a:t>
            </a:r>
            <a:r>
              <a:rPr lang="ru-RU" dirty="0" err="1"/>
              <a:t>дашбордов</a:t>
            </a:r>
            <a:r>
              <a:rPr lang="ru-RU" dirty="0"/>
              <a:t> и витрин </a:t>
            </a:r>
            <a:r>
              <a:rPr lang="en-US" dirty="0"/>
              <a:t>self-service </a:t>
            </a:r>
            <a:r>
              <a:rPr lang="ru-RU" dirty="0"/>
              <a:t>проектов</a:t>
            </a:r>
            <a:endParaRPr lang="ru-RU" dirty="0">
              <a:sym typeface="Helvetica Neue"/>
            </a:endParaRPr>
          </a:p>
        </p:txBody>
      </p:sp>
      <p:sp>
        <p:nvSpPr>
          <p:cNvPr id="211" name="Пятиугольник 21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700566" y="5546476"/>
            <a:ext cx="1341085" cy="200494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5 %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12" name="Пятиугольник 21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8057804" y="5538720"/>
            <a:ext cx="1585709" cy="182747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13" name="Ромб 212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570493" y="5575210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B1ABC36-8890-7CAD-DBE2-467F817AB298}"/>
              </a:ext>
            </a:extLst>
          </p:cNvPr>
          <p:cNvSpPr txBox="1"/>
          <p:nvPr/>
        </p:nvSpPr>
        <p:spPr>
          <a:xfrm>
            <a:off x="9112405" y="479050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1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q2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7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7283" y="5861226"/>
            <a:ext cx="3863882" cy="275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defTabSz="840072">
              <a:lnSpc>
                <a:spcPct val="80000"/>
              </a:lnSpc>
            </a:pPr>
            <a:r>
              <a:rPr lang="ru-RU" dirty="0"/>
              <a:t>Уход нецелевых проектов</a:t>
            </a:r>
            <a:endParaRPr lang="ru-RU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22" name="Пятиугольник 22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077738" y="5899613"/>
            <a:ext cx="911604" cy="210598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23" name="Пятиугольник 22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6050095" y="5894236"/>
            <a:ext cx="1508871" cy="215975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40%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24" name="Пятиугольник 22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7592905" y="5894237"/>
            <a:ext cx="1417494" cy="207896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90%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28" name="Ромб 227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5932162" y="5917468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29" name="Ромб 228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7487402" y="5920628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230" name="Прямая соединительная линия 229">
            <a:extLst>
              <a:ext uri="{FF2B5EF4-FFF2-40B4-BE49-F238E27FC236}">
                <a16:creationId xmlns:a16="http://schemas.microsoft.com/office/drawing/2014/main" id="{5C129477-AAEE-5B11-98C7-DC45394D1B59}"/>
              </a:ext>
            </a:extLst>
          </p:cNvPr>
          <p:cNvCxnSpPr>
            <a:cxnSpLocks/>
          </p:cNvCxnSpPr>
          <p:nvPr/>
        </p:nvCxnSpPr>
        <p:spPr>
          <a:xfrm flipH="1">
            <a:off x="119438" y="5763143"/>
            <a:ext cx="11713239" cy="87797"/>
          </a:xfrm>
          <a:prstGeom prst="line">
            <a:avLst/>
          </a:prstGeom>
          <a:noFill/>
          <a:ln w="15875" cap="flat" cmpd="sng" algn="ctr">
            <a:solidFill>
              <a:srgbClr val="4472C4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cxnSp>
        <p:nvCxnSpPr>
          <p:cNvPr id="240" name="Прямая соединительная линия 239">
            <a:extLst>
              <a:ext uri="{FF2B5EF4-FFF2-40B4-BE49-F238E27FC236}">
                <a16:creationId xmlns:a16="http://schemas.microsoft.com/office/drawing/2014/main" id="{77E2D1AB-7E57-C199-6421-C0C3180F9A0C}"/>
              </a:ext>
            </a:extLst>
          </p:cNvPr>
          <p:cNvCxnSpPr>
            <a:cxnSpLocks/>
          </p:cNvCxnSpPr>
          <p:nvPr/>
        </p:nvCxnSpPr>
        <p:spPr>
          <a:xfrm>
            <a:off x="9677083" y="683059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CB1ABC36-8890-7CAD-DBE2-467F817AB298}"/>
              </a:ext>
            </a:extLst>
          </p:cNvPr>
          <p:cNvSpPr txBox="1"/>
          <p:nvPr/>
        </p:nvSpPr>
        <p:spPr>
          <a:xfrm>
            <a:off x="9717483" y="448904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ern="0" dirty="0">
                <a:solidFill>
                  <a:prstClr val="black"/>
                </a:solidFill>
              </a:rPr>
              <a:t>2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q2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7</a:t>
            </a:r>
          </a:p>
        </p:txBody>
      </p:sp>
      <p:sp>
        <p:nvSpPr>
          <p:cNvPr id="250" name="Пятиугольник 24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317314" y="4644917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75%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51" name="Пятиугольник 25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310728" y="4983273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80%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52" name="Пятиугольник 25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317314" y="5257587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60%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53" name="Пятиугольник 25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305150" y="5552271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70%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54" name="Ромб 253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201375" y="4667726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55" name="Ромб 25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194789" y="5006082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56" name="Ромб 255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201375" y="5280396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57" name="Ромб 25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189211" y="5575080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258" name="Прямая соединительная линия 257">
            <a:extLst>
              <a:ext uri="{FF2B5EF4-FFF2-40B4-BE49-F238E27FC236}">
                <a16:creationId xmlns:a16="http://schemas.microsoft.com/office/drawing/2014/main" id="{77E2D1AB-7E57-C199-6421-C0C3180F9A0C}"/>
              </a:ext>
            </a:extLst>
          </p:cNvPr>
          <p:cNvCxnSpPr>
            <a:cxnSpLocks/>
          </p:cNvCxnSpPr>
          <p:nvPr/>
        </p:nvCxnSpPr>
        <p:spPr>
          <a:xfrm>
            <a:off x="10264574" y="670426"/>
            <a:ext cx="31180" cy="5864484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CB1ABC36-8890-7CAD-DBE2-467F817AB298}"/>
              </a:ext>
            </a:extLst>
          </p:cNvPr>
          <p:cNvSpPr txBox="1"/>
          <p:nvPr/>
        </p:nvSpPr>
        <p:spPr>
          <a:xfrm>
            <a:off x="10350535" y="447611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ern="0" noProof="0" dirty="0">
                <a:solidFill>
                  <a:prstClr val="black"/>
                </a:solidFill>
              </a:rPr>
              <a:t>3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q2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7</a:t>
            </a:r>
          </a:p>
        </p:txBody>
      </p:sp>
      <p:sp>
        <p:nvSpPr>
          <p:cNvPr id="261" name="Пятиугольник 26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934583" y="4627548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62" name="Пятиугольник 261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927997" y="4965904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95%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63" name="Пятиугольник 26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934583" y="5240218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80%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64" name="Пятиугольник 26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922419" y="5534902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65" name="Ромб 26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818644" y="4650357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6" name="Ромб 265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812058" y="4988713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7" name="Ромб 26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818644" y="5263027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8" name="Ромб 267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806480" y="5557711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B1ABC36-8890-7CAD-DBE2-467F817AB298}"/>
              </a:ext>
            </a:extLst>
          </p:cNvPr>
          <p:cNvSpPr txBox="1"/>
          <p:nvPr/>
        </p:nvSpPr>
        <p:spPr>
          <a:xfrm>
            <a:off x="10939389" y="474123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 Light" panose="020F0302020204030204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552729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4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q2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 Light" panose="020F0302020204030204" pitchFamily="34" charset="0"/>
              </a:rPr>
              <a:t>7</a:t>
            </a:r>
          </a:p>
        </p:txBody>
      </p:sp>
      <p:cxnSp>
        <p:nvCxnSpPr>
          <p:cNvPr id="270" name="Прямая соединительная линия 269">
            <a:extLst>
              <a:ext uri="{FF2B5EF4-FFF2-40B4-BE49-F238E27FC236}">
                <a16:creationId xmlns:a16="http://schemas.microsoft.com/office/drawing/2014/main" id="{77E2D1AB-7E57-C199-6421-C0C3180F9A0C}"/>
              </a:ext>
            </a:extLst>
          </p:cNvPr>
          <p:cNvCxnSpPr>
            <a:cxnSpLocks/>
          </p:cNvCxnSpPr>
          <p:nvPr/>
        </p:nvCxnSpPr>
        <p:spPr>
          <a:xfrm>
            <a:off x="10891313" y="699535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07" name="Ромб 20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6585319" y="4296653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60" name="5-конечная звезда 159">
            <a:extLst>
              <a:ext uri="{FF2B5EF4-FFF2-40B4-BE49-F238E27FC236}">
                <a16:creationId xmlns:a16="http://schemas.microsoft.com/office/drawing/2014/main" id="{A3FE4BCC-DDCE-BEA9-6E0D-56883190ADB4}"/>
              </a:ext>
            </a:extLst>
          </p:cNvPr>
          <p:cNvSpPr/>
          <p:nvPr/>
        </p:nvSpPr>
        <p:spPr>
          <a:xfrm>
            <a:off x="11345854" y="4254139"/>
            <a:ext cx="251992" cy="251992"/>
          </a:xfrm>
          <a:prstGeom prst="star5">
            <a:avLst/>
          </a:prstGeom>
          <a:solidFill>
            <a:sysClr val="window" lastClr="FFFFFF"/>
          </a:solidFill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Пятиугольник 16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667427" y="3675763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en-US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TBD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66" name="Пятиугольник 165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039425" y="3677344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TBD</a:t>
            </a:r>
            <a:endParaRPr lang="ru-RU" sz="100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69" name="Ромб 168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559509" y="3698572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1" name="Пятиугольник 170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294166" y="3675633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en-US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TBD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77" name="Ромб 17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178227" y="3698442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0" name="Пятиугольник 179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10911435" y="3658264"/>
            <a:ext cx="586163" cy="210872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en-US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  <a:sym typeface="Helvetica Neue"/>
              </a:rPr>
              <a:t>TBD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181" name="Ромб 180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0795496" y="3681073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39" name="Ромб 138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8930413" y="3682197"/>
            <a:ext cx="180000" cy="18000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1189618" y="3905734"/>
            <a:ext cx="933173" cy="44465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defTabSz="840072">
              <a:lnSpc>
                <a:spcPct val="80000"/>
              </a:lnSpc>
            </a:pP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Инсталляция </a:t>
            </a:r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BI (</a:t>
            </a: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проект</a:t>
            </a:r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2) </a:t>
            </a: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выведена из эксплуатации</a:t>
            </a:r>
          </a:p>
        </p:txBody>
      </p:sp>
      <p:sp>
        <p:nvSpPr>
          <p:cNvPr id="185" name="Ромб 18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1390872" y="3684533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4" name="Ромб 193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1399229" y="4660233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6" name="Ромб 195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1397855" y="5564817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0" name="Ромб 199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1421096" y="4980984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05" name="Ромб 204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11423955" y="5257534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8" name="Пятиугольник 177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745518" y="3196700"/>
            <a:ext cx="891281" cy="249569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Вывод в ПРОМ</a:t>
            </a:r>
            <a:endParaRPr lang="en-US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</a:endParaRPr>
          </a:p>
        </p:txBody>
      </p:sp>
      <p:sp>
        <p:nvSpPr>
          <p:cNvPr id="105" name="Ромб 104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4404765" y="2934325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725813" y="3194045"/>
            <a:ext cx="99527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ETL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717690" y="2886781"/>
            <a:ext cx="1106393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Целевой </a:t>
            </a:r>
            <a:r>
              <a:rPr lang="en-US" sz="11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BI</a:t>
            </a:r>
            <a:endParaRPr lang="ru-RU" sz="1100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54" name="Пятиугольник 153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5038113" y="2509415"/>
            <a:ext cx="1632859" cy="304111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Настроен ПРОМ </a:t>
            </a:r>
          </a:p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и выведен в ОЭ</a:t>
            </a:r>
          </a:p>
        </p:txBody>
      </p:sp>
      <p:sp>
        <p:nvSpPr>
          <p:cNvPr id="157" name="Ромб 156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6590850" y="2579562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9" name="Пятиугольник 178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32442" y="2514425"/>
            <a:ext cx="1240560" cy="314405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Настроен</a:t>
            </a:r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Dev</a:t>
            </a:r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 стенд</a:t>
            </a:r>
          </a:p>
        </p:txBody>
      </p:sp>
      <p:sp>
        <p:nvSpPr>
          <p:cNvPr id="153" name="Пятиугольник 152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3975358" y="2513680"/>
            <a:ext cx="1066536" cy="314405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Настроен ПСИ стенд</a:t>
            </a:r>
          </a:p>
        </p:txBody>
      </p:sp>
      <p:sp>
        <p:nvSpPr>
          <p:cNvPr id="206" name="Пятиугольник 205">
            <a:extLst>
              <a:ext uri="{FF2B5EF4-FFF2-40B4-BE49-F238E27FC236}">
                <a16:creationId xmlns:a16="http://schemas.microsoft.com/office/drawing/2014/main" id="{684EC6D4-6339-F721-37B8-BB2C2F5A7ABA}"/>
              </a:ext>
            </a:extLst>
          </p:cNvPr>
          <p:cNvSpPr/>
          <p:nvPr/>
        </p:nvSpPr>
        <p:spPr>
          <a:xfrm>
            <a:off x="2730547" y="2872645"/>
            <a:ext cx="758050" cy="284533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Настройка на </a:t>
            </a:r>
            <a:r>
              <a:rPr lang="en-US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Dev</a:t>
            </a:r>
          </a:p>
        </p:txBody>
      </p:sp>
      <p:sp>
        <p:nvSpPr>
          <p:cNvPr id="209" name="Ромб 208">
            <a:extLst>
              <a:ext uri="{FF2B5EF4-FFF2-40B4-BE49-F238E27FC236}">
                <a16:creationId xmlns:a16="http://schemas.microsoft.com/office/drawing/2014/main" id="{806FBEF2-8997-F95E-4193-2B69EB5BE1E0}"/>
              </a:ext>
            </a:extLst>
          </p:cNvPr>
          <p:cNvSpPr>
            <a:spLocks noChangeAspect="1"/>
          </p:cNvSpPr>
          <p:nvPr/>
        </p:nvSpPr>
        <p:spPr>
          <a:xfrm>
            <a:off x="5941772" y="3464219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15" name="Пятиугольник 214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2727099" y="2218373"/>
            <a:ext cx="4840676" cy="209617"/>
          </a:xfrm>
          <a:prstGeom prst="homePlate">
            <a:avLst>
              <a:gd name="adj" fmla="val 24151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/>
            <a:r>
              <a:rPr lang="ru-RU" sz="1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Виджет обратной связи</a:t>
            </a:r>
          </a:p>
        </p:txBody>
      </p:sp>
      <p:sp>
        <p:nvSpPr>
          <p:cNvPr id="218" name="Пятиугольник 217">
            <a:extLst>
              <a:ext uri="{FF2B5EF4-FFF2-40B4-BE49-F238E27FC236}">
                <a16:creationId xmlns:a16="http://schemas.microsoft.com/office/drawing/2014/main" id="{D89BA95B-8E6A-ECEF-1590-BB8920EE80E2}"/>
              </a:ext>
            </a:extLst>
          </p:cNvPr>
          <p:cNvSpPr/>
          <p:nvPr/>
        </p:nvSpPr>
        <p:spPr>
          <a:xfrm>
            <a:off x="9026987" y="5892616"/>
            <a:ext cx="663588" cy="209517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0" rIns="0" bIns="0" rtlCol="0" anchor="ctr" anchorCtr="0"/>
          <a:lstStyle/>
          <a:p>
            <a:pPr algn="ctr" defTabSz="840072">
              <a:lnSpc>
                <a:spcPct val="80000"/>
              </a:lnSpc>
            </a:pPr>
            <a:r>
              <a:rPr lang="ru-RU" sz="105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/>
                <a:cs typeface="Calibri Light" panose="020F0302020204030204" pitchFamily="34" charset="0"/>
              </a:rPr>
              <a:t>100%</a:t>
            </a:r>
            <a:endParaRPr lang="ru-RU" sz="1050" b="1" kern="0" dirty="0">
              <a:solidFill>
                <a:prstClr val="black">
                  <a:lumMod val="75000"/>
                  <a:lumOff val="25000"/>
                </a:prstClr>
              </a:solidFill>
              <a:latin typeface="Calibri Light" panose="020F0302020204030204"/>
              <a:cs typeface="Calibri Light" panose="020F0302020204030204" pitchFamily="34" charset="0"/>
              <a:sym typeface="Helvetica Neue"/>
            </a:endParaRPr>
          </a:p>
        </p:txBody>
      </p:sp>
      <p:sp>
        <p:nvSpPr>
          <p:cNvPr id="219" name="Ромб 218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8912508" y="5931246"/>
            <a:ext cx="180000" cy="15838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27" name="Ромб 226">
            <a:extLst>
              <a:ext uri="{FF2B5EF4-FFF2-40B4-BE49-F238E27FC236}">
                <a16:creationId xmlns:a16="http://schemas.microsoft.com/office/drawing/2014/main" id="{0742A59F-95AD-6986-B133-B54A2032BBD4}"/>
              </a:ext>
            </a:extLst>
          </p:cNvPr>
          <p:cNvSpPr>
            <a:spLocks noChangeAspect="1"/>
          </p:cNvSpPr>
          <p:nvPr/>
        </p:nvSpPr>
        <p:spPr>
          <a:xfrm>
            <a:off x="9601558" y="5913132"/>
            <a:ext cx="178034" cy="15665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Ромб 11">
            <a:extLst>
              <a:ext uri="{FF2B5EF4-FFF2-40B4-BE49-F238E27FC236}">
                <a16:creationId xmlns:a16="http://schemas.microsoft.com/office/drawing/2014/main" id="{D6EE1561-B076-F318-F44A-4D426C9FBE5F}"/>
              </a:ext>
            </a:extLst>
          </p:cNvPr>
          <p:cNvSpPr>
            <a:spLocks noChangeAspect="1"/>
          </p:cNvSpPr>
          <p:nvPr/>
        </p:nvSpPr>
        <p:spPr>
          <a:xfrm>
            <a:off x="5929215" y="2910380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ru-RU" sz="1492" kern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Ромб 15">
            <a:extLst>
              <a:ext uri="{FF2B5EF4-FFF2-40B4-BE49-F238E27FC236}">
                <a16:creationId xmlns:a16="http://schemas.microsoft.com/office/drawing/2014/main" id="{6755B11B-4C73-3C78-E250-3C132373E03B}"/>
              </a:ext>
            </a:extLst>
          </p:cNvPr>
          <p:cNvSpPr>
            <a:spLocks noChangeAspect="1"/>
          </p:cNvSpPr>
          <p:nvPr/>
        </p:nvSpPr>
        <p:spPr>
          <a:xfrm>
            <a:off x="7438258" y="2229680"/>
            <a:ext cx="180000" cy="18000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" name="Ромб 16">
            <a:extLst>
              <a:ext uri="{FF2B5EF4-FFF2-40B4-BE49-F238E27FC236}">
                <a16:creationId xmlns:a16="http://schemas.microsoft.com/office/drawing/2014/main" id="{F9B020C9-D063-3FE4-AEF7-8BDA305CE32A}"/>
              </a:ext>
            </a:extLst>
          </p:cNvPr>
          <p:cNvSpPr>
            <a:spLocks noChangeAspect="1"/>
          </p:cNvSpPr>
          <p:nvPr/>
        </p:nvSpPr>
        <p:spPr>
          <a:xfrm>
            <a:off x="8901870" y="1968252"/>
            <a:ext cx="180000" cy="180000"/>
          </a:xfrm>
          <a:prstGeom prst="diamond">
            <a:avLst/>
          </a:prstGeom>
          <a:solidFill>
            <a:schemeClr val="bg1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Ромб 17">
            <a:extLst>
              <a:ext uri="{FF2B5EF4-FFF2-40B4-BE49-F238E27FC236}">
                <a16:creationId xmlns:a16="http://schemas.microsoft.com/office/drawing/2014/main" id="{45731D05-D6A9-A891-33B6-CCCF26690920}"/>
              </a:ext>
            </a:extLst>
          </p:cNvPr>
          <p:cNvSpPr>
            <a:spLocks noChangeAspect="1"/>
          </p:cNvSpPr>
          <p:nvPr/>
        </p:nvSpPr>
        <p:spPr>
          <a:xfrm>
            <a:off x="6530201" y="3222512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6703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4114</TotalTime>
  <Words>245</Words>
  <Application>Microsoft Macintosh PowerPoint</Application>
  <PresentationFormat>Широкоэкранный</PresentationFormat>
  <Paragraphs>83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Helvetica Neue</vt:lpstr>
      <vt:lpstr>SB Sans Display</vt:lpstr>
      <vt:lpstr>SB Sans Text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Рыбакин Сергей Александрович</dc:creator>
  <cp:lastModifiedBy>Жарова Алина Олеговна</cp:lastModifiedBy>
  <cp:revision>103</cp:revision>
  <dcterms:created xsi:type="dcterms:W3CDTF">2026-03-23T10:53:44Z</dcterms:created>
  <dcterms:modified xsi:type="dcterms:W3CDTF">2026-07-15T10:20:22Z</dcterms:modified>
</cp:coreProperties>
</file>