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12192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616" y="17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7A8EA64E-1746-E845-AB9C-9661F646EADD}" type="datetime1">
              <a:rPr lang="ru-RU"/>
              <a:t>15.07.2026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2BBC35F-7B5A-4B7D-B4B0-A914DA257ABE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237600" y="151201"/>
            <a:ext cx="11116200" cy="482014"/>
          </a:xfrm>
          <a:prstGeom prst="rect">
            <a:avLst/>
          </a:prstGeom>
        </p:spPr>
        <p:txBody>
          <a:bodyPr/>
          <a:lstStyle>
            <a:lvl1pPr>
              <a:defRPr>
                <a:latin typeface="SB Sans Text"/>
                <a:cs typeface="SB Sans Tex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 hasCustomPrompt="1"/>
          </p:nvPr>
        </p:nvSpPr>
        <p:spPr bwMode="auto">
          <a:xfrm>
            <a:off x="838200" y="1825625"/>
            <a:ext cx="10515600" cy="3651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latin typeface="SB Sans Display Semibold"/>
                <a:cs typeface="SB Sans Display Semibold"/>
              </a:defRPr>
            </a:lvl1pPr>
            <a:lvl2pPr>
              <a:defRPr sz="1600">
                <a:latin typeface="SB Sans Display Semibold"/>
                <a:cs typeface="SB Sans Display Semibold"/>
              </a:defRPr>
            </a:lvl2pPr>
            <a:lvl3pPr>
              <a:defRPr sz="1400">
                <a:latin typeface="SB Sans Display Semibold"/>
                <a:cs typeface="SB Sans Display Semibold"/>
              </a:defRPr>
            </a:lvl3pPr>
            <a:lvl4pPr>
              <a:defRPr sz="1200">
                <a:latin typeface="SB Sans Display Semibold"/>
                <a:cs typeface="SB Sans Display Semibold"/>
              </a:defRPr>
            </a:lvl4pPr>
            <a:lvl5pPr>
              <a:defRPr sz="1200">
                <a:latin typeface="SB Sans Display Semibold"/>
                <a:cs typeface="SB Sans Display Semibold"/>
              </a:defRPr>
            </a:lvl5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B0C0FF1C-40D5-8741-A700-1C5BFCDFC583}" type="datetime1">
              <a:rPr lang="ru-RU"/>
              <a:t>15.07.2026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2BBC35F-7B5A-4B7D-B4B0-A914DA257ABE}" type="slidenum">
              <a:rPr lang="ru-RU"/>
              <a:t>‹#›</a:t>
            </a:fld>
            <a:endParaRPr lang="ru-RU"/>
          </a:p>
        </p:txBody>
      </p:sp>
      <p:sp>
        <p:nvSpPr>
          <p:cNvPr id="7" name="Объект 2"/>
          <p:cNvSpPr>
            <a:spLocks noGrp="1"/>
          </p:cNvSpPr>
          <p:nvPr>
            <p:ph idx="13" hasCustomPrompt="1"/>
          </p:nvPr>
        </p:nvSpPr>
        <p:spPr bwMode="auto">
          <a:xfrm>
            <a:off x="838200" y="2546761"/>
            <a:ext cx="10515600" cy="3651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SB Sans Text"/>
                <a:cs typeface="SB Sans Text"/>
              </a:defRPr>
            </a:lvl1pPr>
            <a:lvl2pPr>
              <a:defRPr sz="1600">
                <a:latin typeface="SB Sans Display Semibold"/>
                <a:cs typeface="SB Sans Display Semibold"/>
              </a:defRPr>
            </a:lvl2pPr>
            <a:lvl3pPr>
              <a:defRPr sz="1400">
                <a:latin typeface="SB Sans Display Semibold"/>
                <a:cs typeface="SB Sans Display Semibold"/>
              </a:defRPr>
            </a:lvl3pPr>
            <a:lvl4pPr>
              <a:defRPr sz="1200">
                <a:latin typeface="SB Sans Display Semibold"/>
                <a:cs typeface="SB Sans Display Semibold"/>
              </a:defRPr>
            </a:lvl4pPr>
            <a:lvl5pPr>
              <a:defRPr sz="1200">
                <a:latin typeface="SB Sans Display Semibold"/>
                <a:cs typeface="SB Sans Display Semibold"/>
              </a:defRPr>
            </a:lvl5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8" name="Объект 2"/>
          <p:cNvSpPr>
            <a:spLocks noGrp="1"/>
          </p:cNvSpPr>
          <p:nvPr>
            <p:ph idx="14" hasCustomPrompt="1"/>
          </p:nvPr>
        </p:nvSpPr>
        <p:spPr bwMode="auto">
          <a:xfrm>
            <a:off x="838200" y="3267897"/>
            <a:ext cx="10515600" cy="3651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SB Sans Text Cond"/>
                <a:cs typeface="SB Sans Text Cond"/>
              </a:defRPr>
            </a:lvl1pPr>
            <a:lvl2pPr>
              <a:defRPr sz="1600">
                <a:latin typeface="SB Sans Display Semibold"/>
                <a:cs typeface="SB Sans Display Semibold"/>
              </a:defRPr>
            </a:lvl2pPr>
            <a:lvl3pPr>
              <a:defRPr sz="1400">
                <a:latin typeface="SB Sans Display Semibold"/>
                <a:cs typeface="SB Sans Display Semibold"/>
              </a:defRPr>
            </a:lvl3pPr>
            <a:lvl4pPr>
              <a:defRPr sz="1200">
                <a:latin typeface="SB Sans Display Semibold"/>
                <a:cs typeface="SB Sans Display Semibold"/>
              </a:defRPr>
            </a:lvl4pPr>
            <a:lvl5pPr>
              <a:defRPr sz="1200">
                <a:latin typeface="SB Sans Display Semibold"/>
                <a:cs typeface="SB Sans Display Semibold"/>
              </a:defRPr>
            </a:lvl5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237600" y="151201"/>
            <a:ext cx="11116200" cy="48201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F5528C28-5881-FC4A-9C75-68C05E13F315}" type="datetime1">
              <a:rPr lang="ru-RU"/>
              <a:t>15.07.2026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2BBC35F-7B5A-4B7D-B4B0-A914DA257ABE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userDrawn="1">
  <p:cSld name="1_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B667F73-F1F9-4E01-89B9-68DA844ABA08}" type="datetimeFigureOut">
              <a:rPr lang="ru-RU"/>
              <a:t>15.07.2026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59C9236A-A34A-4946-86A6-AC59A9568578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6">
            <a:alphaModFix amt="18000"/>
          </a:blip>
          <a:stretch/>
        </p:blipFill>
        <p:spPr bwMode="auto">
          <a:xfrm flipH="1">
            <a:off x="0" y="-213"/>
            <a:ext cx="12192757" cy="6858426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237600" y="151201"/>
            <a:ext cx="11116200" cy="48201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8200" y="1825626"/>
            <a:ext cx="10515600" cy="3413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651082" y="6457950"/>
            <a:ext cx="4266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2BBC35F-7B5A-4B7D-B4B0-A914DA257ABE}" type="slidenum">
              <a:rPr lang="ru-RU"/>
              <a:t>‹#›</a:t>
            </a:fld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7">
            <a:duotone>
              <a:schemeClr val="bg2">
                <a:shade val="45000"/>
                <a:satMod val="135000"/>
              </a:schemeClr>
              <a:prstClr val="white"/>
            </a:duotone>
          </a:blip>
          <a:stretch/>
        </p:blipFill>
        <p:spPr bwMode="auto">
          <a:xfrm>
            <a:off x="11552075" y="140771"/>
            <a:ext cx="426617" cy="49244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ftr="0" dt="0"/>
  <p:txStyles>
    <p:titleStyle>
      <a:lvl1pPr algn="l" defTabSz="914400">
        <a:lnSpc>
          <a:spcPct val="90000"/>
        </a:lnSpc>
        <a:spcBef>
          <a:spcPts val="0"/>
        </a:spcBef>
        <a:buNone/>
        <a:defRPr sz="2800" b="0">
          <a:solidFill>
            <a:srgbClr val="474747"/>
          </a:solidFill>
          <a:latin typeface="+mn-lt"/>
          <a:ea typeface="+mj-ea"/>
          <a:cs typeface="SB Sans Display Semibold"/>
        </a:defRPr>
      </a:lvl1pPr>
    </p:titleStyle>
    <p:bodyStyle>
      <a:lvl1pPr marL="0" indent="0" algn="l" defTabSz="914400">
        <a:lnSpc>
          <a:spcPct val="90000"/>
        </a:lnSpc>
        <a:spcBef>
          <a:spcPts val="1000"/>
        </a:spcBef>
        <a:buFont typeface="Arial"/>
        <a:buNone/>
        <a:defRPr sz="1800" b="0">
          <a:solidFill>
            <a:srgbClr val="474747"/>
          </a:solidFill>
          <a:latin typeface="SB Sans Display Semibold"/>
          <a:ea typeface="+mn-ea"/>
          <a:cs typeface="SB Sans Display Semibold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b="0">
          <a:solidFill>
            <a:srgbClr val="474747"/>
          </a:solidFill>
          <a:latin typeface="SB Sans Display Semibold"/>
          <a:ea typeface="+mn-ea"/>
          <a:cs typeface="SB Sans Display Semibold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400" b="0" i="0">
          <a:solidFill>
            <a:srgbClr val="474747"/>
          </a:solidFill>
          <a:latin typeface="SB Sans Text"/>
          <a:ea typeface="+mn-ea"/>
          <a:cs typeface="SB Sans Tex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200" b="0" i="0">
          <a:solidFill>
            <a:srgbClr val="474747"/>
          </a:solidFill>
          <a:latin typeface="SB Sans Text"/>
          <a:ea typeface="+mn-ea"/>
          <a:cs typeface="SB Sans Tex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200" b="0" i="0">
          <a:solidFill>
            <a:srgbClr val="474747"/>
          </a:solidFill>
          <a:latin typeface="SB Sans Text Cond"/>
          <a:ea typeface="+mn-ea"/>
          <a:cs typeface="SB Sans Text Cond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132" name="Прямая соединительная линия 131"/>
          <p:cNvCxnSpPr>
            <a:cxnSpLocks/>
          </p:cNvCxnSpPr>
          <p:nvPr/>
        </p:nvCxnSpPr>
        <p:spPr bwMode="auto">
          <a:xfrm>
            <a:off x="11742837" y="631245"/>
            <a:ext cx="0" cy="5832000"/>
          </a:xfrm>
          <a:prstGeom prst="line">
            <a:avLst/>
          </a:prstGeom>
          <a:noFill/>
          <a:ln w="6350" cap="flat" cmpd="sng" algn="ctr">
            <a:solidFill>
              <a:srgbClr val="4472C4">
                <a:lumMod val="60000"/>
                <a:lumOff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183" name="Прямая соединительная линия 182"/>
          <p:cNvCxnSpPr>
            <a:cxnSpLocks/>
          </p:cNvCxnSpPr>
          <p:nvPr/>
        </p:nvCxnSpPr>
        <p:spPr bwMode="auto">
          <a:xfrm>
            <a:off x="6335062" y="631575"/>
            <a:ext cx="0" cy="5832000"/>
          </a:xfrm>
          <a:prstGeom prst="line">
            <a:avLst/>
          </a:prstGeom>
          <a:noFill/>
          <a:ln w="6350" cap="flat" cmpd="sng" algn="ctr">
            <a:solidFill>
              <a:srgbClr val="4472C4">
                <a:lumMod val="60000"/>
                <a:lumOff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184" name="Прямая соединительная линия 183"/>
          <p:cNvCxnSpPr>
            <a:cxnSpLocks/>
          </p:cNvCxnSpPr>
          <p:nvPr/>
        </p:nvCxnSpPr>
        <p:spPr bwMode="auto">
          <a:xfrm>
            <a:off x="5660528" y="622950"/>
            <a:ext cx="0" cy="5832000"/>
          </a:xfrm>
          <a:prstGeom prst="line">
            <a:avLst/>
          </a:prstGeom>
          <a:noFill/>
          <a:ln w="6350" cap="flat" cmpd="sng" algn="ctr">
            <a:solidFill>
              <a:srgbClr val="4472C4">
                <a:lumMod val="60000"/>
                <a:lumOff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01" name="Прямая соединительная линия 200"/>
          <p:cNvCxnSpPr>
            <a:cxnSpLocks/>
          </p:cNvCxnSpPr>
          <p:nvPr/>
        </p:nvCxnSpPr>
        <p:spPr bwMode="auto">
          <a:xfrm>
            <a:off x="4952690" y="622950"/>
            <a:ext cx="0" cy="5832000"/>
          </a:xfrm>
          <a:prstGeom prst="line">
            <a:avLst/>
          </a:prstGeom>
          <a:noFill/>
          <a:ln w="6350" cap="flat" cmpd="sng" algn="ctr">
            <a:solidFill>
              <a:srgbClr val="4472C4">
                <a:lumMod val="60000"/>
                <a:lumOff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12" name="Прямая соединительная линия 211"/>
          <p:cNvCxnSpPr>
            <a:cxnSpLocks/>
          </p:cNvCxnSpPr>
          <p:nvPr/>
        </p:nvCxnSpPr>
        <p:spPr bwMode="auto">
          <a:xfrm>
            <a:off x="2944593" y="622950"/>
            <a:ext cx="0" cy="5832000"/>
          </a:xfrm>
          <a:prstGeom prst="line">
            <a:avLst/>
          </a:prstGeom>
          <a:noFill/>
          <a:ln w="6350" cap="flat" cmpd="sng" algn="ctr">
            <a:solidFill>
              <a:srgbClr val="4472C4">
                <a:lumMod val="60000"/>
                <a:lumOff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31" name="Прямая соединительная линия 230"/>
          <p:cNvCxnSpPr>
            <a:cxnSpLocks/>
          </p:cNvCxnSpPr>
          <p:nvPr/>
        </p:nvCxnSpPr>
        <p:spPr bwMode="auto">
          <a:xfrm>
            <a:off x="3610752" y="622950"/>
            <a:ext cx="0" cy="5832000"/>
          </a:xfrm>
          <a:prstGeom prst="line">
            <a:avLst/>
          </a:prstGeom>
          <a:noFill/>
          <a:ln w="6350" cap="flat" cmpd="sng" algn="ctr">
            <a:solidFill>
              <a:srgbClr val="4472C4">
                <a:lumMod val="60000"/>
                <a:lumOff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190" name="Прямая соединительная линия 189"/>
          <p:cNvCxnSpPr>
            <a:cxnSpLocks/>
          </p:cNvCxnSpPr>
          <p:nvPr/>
        </p:nvCxnSpPr>
        <p:spPr bwMode="auto">
          <a:xfrm>
            <a:off x="10421425" y="622950"/>
            <a:ext cx="0" cy="5832000"/>
          </a:xfrm>
          <a:prstGeom prst="line">
            <a:avLst/>
          </a:prstGeom>
          <a:noFill/>
          <a:ln w="6350" cap="flat" cmpd="sng" algn="ctr">
            <a:solidFill>
              <a:srgbClr val="4472C4">
                <a:lumMod val="60000"/>
                <a:lumOff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1" name="Прямая соединительная линия 20"/>
          <p:cNvCxnSpPr>
            <a:cxnSpLocks/>
          </p:cNvCxnSpPr>
          <p:nvPr/>
        </p:nvCxnSpPr>
        <p:spPr bwMode="auto">
          <a:xfrm>
            <a:off x="11092393" y="622950"/>
            <a:ext cx="0" cy="5832000"/>
          </a:xfrm>
          <a:prstGeom prst="line">
            <a:avLst/>
          </a:prstGeom>
          <a:noFill/>
          <a:ln w="6350" cap="flat" cmpd="sng" algn="ctr">
            <a:solidFill>
              <a:srgbClr val="4472C4">
                <a:lumMod val="60000"/>
                <a:lumOff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185" name="Прямая соединительная линия 184"/>
          <p:cNvCxnSpPr>
            <a:cxnSpLocks/>
          </p:cNvCxnSpPr>
          <p:nvPr/>
        </p:nvCxnSpPr>
        <p:spPr bwMode="auto">
          <a:xfrm>
            <a:off x="9101931" y="622950"/>
            <a:ext cx="0" cy="5832000"/>
          </a:xfrm>
          <a:prstGeom prst="line">
            <a:avLst/>
          </a:prstGeom>
          <a:noFill/>
          <a:ln w="6350" cap="flat" cmpd="sng" algn="ctr">
            <a:solidFill>
              <a:srgbClr val="4472C4">
                <a:lumMod val="60000"/>
                <a:lumOff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186" name="Прямая соединительная линия 185"/>
          <p:cNvCxnSpPr>
            <a:cxnSpLocks/>
          </p:cNvCxnSpPr>
          <p:nvPr/>
        </p:nvCxnSpPr>
        <p:spPr bwMode="auto">
          <a:xfrm>
            <a:off x="8464625" y="622950"/>
            <a:ext cx="0" cy="5832000"/>
          </a:xfrm>
          <a:prstGeom prst="line">
            <a:avLst/>
          </a:prstGeom>
          <a:noFill/>
          <a:ln w="6350" cap="flat" cmpd="sng" algn="ctr">
            <a:solidFill>
              <a:srgbClr val="4472C4">
                <a:lumMod val="60000"/>
                <a:lumOff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188" name="Прямая соединительная линия 187"/>
          <p:cNvCxnSpPr>
            <a:cxnSpLocks/>
          </p:cNvCxnSpPr>
          <p:nvPr/>
        </p:nvCxnSpPr>
        <p:spPr bwMode="auto">
          <a:xfrm>
            <a:off x="7755185" y="622950"/>
            <a:ext cx="0" cy="5832000"/>
          </a:xfrm>
          <a:prstGeom prst="line">
            <a:avLst/>
          </a:prstGeom>
          <a:noFill/>
          <a:ln w="6350" cap="flat" cmpd="sng" algn="ctr">
            <a:solidFill>
              <a:srgbClr val="4472C4">
                <a:lumMod val="60000"/>
                <a:lumOff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189" name="Прямая соединительная линия 188"/>
          <p:cNvCxnSpPr>
            <a:cxnSpLocks/>
          </p:cNvCxnSpPr>
          <p:nvPr/>
        </p:nvCxnSpPr>
        <p:spPr bwMode="auto">
          <a:xfrm>
            <a:off x="2273625" y="622950"/>
            <a:ext cx="0" cy="5832000"/>
          </a:xfrm>
          <a:prstGeom prst="line">
            <a:avLst/>
          </a:prstGeom>
          <a:noFill/>
          <a:ln w="6350" cap="flat" cmpd="sng" algn="ctr">
            <a:solidFill>
              <a:srgbClr val="4472C4">
                <a:lumMod val="60000"/>
                <a:lumOff val="40000"/>
              </a:srgbClr>
            </a:solidFill>
            <a:prstDash val="solid"/>
            <a:miter lim="800000"/>
          </a:ln>
          <a:effectLst/>
        </p:spPr>
      </p:cxnSp>
      <p:sp>
        <p:nvSpPr>
          <p:cNvPr id="192" name="TextBox 191"/>
          <p:cNvSpPr txBox="1"/>
          <p:nvPr/>
        </p:nvSpPr>
        <p:spPr bwMode="auto">
          <a:xfrm>
            <a:off x="6355837" y="472687"/>
            <a:ext cx="6607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R="0" lvl="0" indent="0" defTabSz="5527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latin typeface="Calibri Light"/>
                <a:cs typeface="Calibri Light"/>
              </a:defRPr>
            </a:lvl1pPr>
          </a:lstStyle>
          <a:p>
            <a:pPr marL="0" marR="0" lvl="0" indent="0" algn="ctr" defTabSz="5527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2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 Light"/>
                <a:ea typeface="+mn-ea"/>
                <a:cs typeface="Calibri Light"/>
              </a:rPr>
              <a:t>Май 26</a:t>
            </a:r>
            <a:endParaRPr/>
          </a:p>
        </p:txBody>
      </p:sp>
      <p:sp>
        <p:nvSpPr>
          <p:cNvPr id="193" name="TextBox 192"/>
          <p:cNvSpPr txBox="1"/>
          <p:nvPr/>
        </p:nvSpPr>
        <p:spPr bwMode="auto">
          <a:xfrm>
            <a:off x="7065276" y="472687"/>
            <a:ext cx="6655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R="0" lvl="0" indent="0" defTabSz="5527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ln>
                  <a:noFill/>
                </a:ln>
                <a:solidFill>
                  <a:prstClr val="black"/>
                </a:solidFill>
                <a:latin typeface="+mj-lt"/>
                <a:cs typeface="Calibri Light"/>
              </a:defRPr>
            </a:lvl1pPr>
          </a:lstStyle>
          <a:p>
            <a:pPr marL="0" marR="0" lvl="0" indent="0" algn="ctr" defTabSz="5527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2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 Light"/>
                <a:ea typeface="+mn-ea"/>
                <a:cs typeface="Calibri Light"/>
              </a:rPr>
              <a:t>Июн 26</a:t>
            </a:r>
            <a:endParaRPr/>
          </a:p>
        </p:txBody>
      </p:sp>
      <p:sp>
        <p:nvSpPr>
          <p:cNvPr id="194" name="TextBox 193"/>
          <p:cNvSpPr txBox="1"/>
          <p:nvPr/>
        </p:nvSpPr>
        <p:spPr bwMode="auto">
          <a:xfrm>
            <a:off x="7779526" y="472687"/>
            <a:ext cx="6607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R="0" lvl="0" indent="0" defTabSz="5527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latin typeface="Calibri Light"/>
                <a:cs typeface="Calibri Light"/>
              </a:defRPr>
            </a:lvl1pPr>
          </a:lstStyle>
          <a:p>
            <a:pPr marL="0" marR="0" lvl="0" indent="0" algn="ctr" defTabSz="5527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2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 Light"/>
                <a:ea typeface="+mn-ea"/>
                <a:cs typeface="Calibri Light"/>
              </a:rPr>
              <a:t>Июл 26</a:t>
            </a:r>
            <a:endParaRPr/>
          </a:p>
        </p:txBody>
      </p:sp>
      <p:sp>
        <p:nvSpPr>
          <p:cNvPr id="195" name="TextBox 194"/>
          <p:cNvSpPr txBox="1"/>
          <p:nvPr/>
        </p:nvSpPr>
        <p:spPr bwMode="auto">
          <a:xfrm>
            <a:off x="8488966" y="472687"/>
            <a:ext cx="5886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R="0" lvl="0" indent="0" defTabSz="5527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latin typeface="Calibri Light"/>
                <a:cs typeface="Calibri Light"/>
              </a:defRPr>
            </a:lvl1pPr>
          </a:lstStyle>
          <a:p>
            <a:pPr marL="0" marR="0" lvl="0" indent="0" algn="ctr" defTabSz="5527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2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 Light"/>
                <a:ea typeface="+mn-ea"/>
                <a:cs typeface="Calibri Light"/>
              </a:rPr>
              <a:t>Авг 26</a:t>
            </a:r>
            <a:endParaRPr/>
          </a:p>
        </p:txBody>
      </p:sp>
      <p:sp>
        <p:nvSpPr>
          <p:cNvPr id="196" name="TextBox 195"/>
          <p:cNvSpPr txBox="1"/>
          <p:nvPr/>
        </p:nvSpPr>
        <p:spPr bwMode="auto">
          <a:xfrm>
            <a:off x="9126272" y="472687"/>
            <a:ext cx="6158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R="0" lvl="0" indent="0" defTabSz="5527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latin typeface="Calibri Light"/>
                <a:cs typeface="Calibri Light"/>
              </a:defRPr>
            </a:lvl1pPr>
          </a:lstStyle>
          <a:p>
            <a:pPr marL="0" marR="0" lvl="0" indent="0" algn="ctr" defTabSz="5527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2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 Light"/>
                <a:ea typeface="+mn-ea"/>
                <a:cs typeface="Calibri Light"/>
              </a:rPr>
              <a:t>Сен 26</a:t>
            </a:r>
            <a:endParaRPr/>
          </a:p>
        </p:txBody>
      </p:sp>
      <p:sp>
        <p:nvSpPr>
          <p:cNvPr id="198" name="TextBox 197"/>
          <p:cNvSpPr txBox="1"/>
          <p:nvPr/>
        </p:nvSpPr>
        <p:spPr bwMode="auto">
          <a:xfrm>
            <a:off x="5684869" y="472687"/>
            <a:ext cx="6222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R="0" lvl="0" indent="0" defTabSz="5527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latin typeface="Calibri Light"/>
                <a:cs typeface="Calibri Light"/>
              </a:defRPr>
            </a:lvl1pPr>
          </a:lstStyle>
          <a:p>
            <a:pPr marL="0" marR="0" lvl="0" indent="0" algn="ctr" defTabSz="5527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2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 Light"/>
                <a:ea typeface="+mn-ea"/>
                <a:cs typeface="Calibri Light"/>
              </a:rPr>
              <a:t>Апр 26</a:t>
            </a:r>
            <a:endParaRPr/>
          </a:p>
        </p:txBody>
      </p:sp>
      <p:sp>
        <p:nvSpPr>
          <p:cNvPr id="199" name="TextBox 198"/>
          <p:cNvSpPr txBox="1"/>
          <p:nvPr/>
        </p:nvSpPr>
        <p:spPr bwMode="auto">
          <a:xfrm>
            <a:off x="4977031" y="472687"/>
            <a:ext cx="6591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R="0" lvl="0" indent="0" defTabSz="5527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latin typeface="Calibri Light"/>
                <a:cs typeface="Calibri Light"/>
              </a:defRPr>
            </a:lvl1pPr>
          </a:lstStyle>
          <a:p>
            <a:pPr marL="0" marR="0" lvl="0" indent="0" algn="ctr" defTabSz="5527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2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 Light"/>
                <a:ea typeface="+mn-ea"/>
                <a:cs typeface="Calibri Light"/>
              </a:rPr>
              <a:t>Мар 26</a:t>
            </a:r>
            <a:endParaRPr/>
          </a:p>
        </p:txBody>
      </p:sp>
      <p:sp>
        <p:nvSpPr>
          <p:cNvPr id="200" name="TextBox 199"/>
          <p:cNvSpPr txBox="1"/>
          <p:nvPr/>
        </p:nvSpPr>
        <p:spPr bwMode="auto">
          <a:xfrm>
            <a:off x="2297966" y="472687"/>
            <a:ext cx="6222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R="0" lvl="0" indent="0" defTabSz="5527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latin typeface="Calibri Light"/>
                <a:cs typeface="Calibri Light"/>
              </a:defRPr>
            </a:lvl1pPr>
          </a:lstStyle>
          <a:p>
            <a:pPr marL="0" marR="0" lvl="0" indent="0" algn="ctr" defTabSz="5527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>
                <a:solidFill>
                  <a:prstClr val="black"/>
                </a:solidFill>
              </a:rPr>
              <a:t>Н</a:t>
            </a:r>
            <a:r>
              <a:rPr lang="ru-RU" sz="12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 Light"/>
                <a:ea typeface="+mn-ea"/>
                <a:cs typeface="Calibri Light"/>
              </a:rPr>
              <a:t>оя 25</a:t>
            </a:r>
            <a:endParaRPr/>
          </a:p>
        </p:txBody>
      </p:sp>
      <p:sp>
        <p:nvSpPr>
          <p:cNvPr id="202" name="TextBox 201"/>
          <p:cNvSpPr txBox="1"/>
          <p:nvPr/>
        </p:nvSpPr>
        <p:spPr bwMode="auto">
          <a:xfrm>
            <a:off x="4298047" y="472687"/>
            <a:ext cx="6303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R="0" lvl="0" indent="0" defTabSz="5527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latin typeface="Calibri Light"/>
                <a:cs typeface="Calibri Light"/>
              </a:defRPr>
            </a:lvl1pPr>
          </a:lstStyle>
          <a:p>
            <a:pPr marL="0" marR="0" lvl="0" indent="0" algn="ctr" defTabSz="5527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2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 Light"/>
                <a:ea typeface="+mn-ea"/>
                <a:cs typeface="Calibri Light"/>
              </a:rPr>
              <a:t>Фев 26</a:t>
            </a:r>
            <a:endParaRPr/>
          </a:p>
        </p:txBody>
      </p:sp>
      <p:sp>
        <p:nvSpPr>
          <p:cNvPr id="203" name="TextBox 202"/>
          <p:cNvSpPr txBox="1"/>
          <p:nvPr/>
        </p:nvSpPr>
        <p:spPr bwMode="auto">
          <a:xfrm>
            <a:off x="3635093" y="472687"/>
            <a:ext cx="6142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R="0" lvl="0" indent="0" defTabSz="5527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latin typeface="Calibri Light"/>
                <a:cs typeface="Calibri Light"/>
              </a:defRPr>
            </a:lvl1pPr>
          </a:lstStyle>
          <a:p>
            <a:pPr marL="0" marR="0" lvl="0" indent="0" algn="ctr" defTabSz="5527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2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 Light"/>
                <a:ea typeface="+mn-ea"/>
                <a:cs typeface="Calibri Light"/>
              </a:rPr>
              <a:t>Янв 26</a:t>
            </a:r>
            <a:endParaRPr/>
          </a:p>
        </p:txBody>
      </p:sp>
      <p:sp>
        <p:nvSpPr>
          <p:cNvPr id="205" name="Скругленный прямоугольник 204"/>
          <p:cNvSpPr/>
          <p:nvPr/>
        </p:nvSpPr>
        <p:spPr bwMode="auto">
          <a:xfrm>
            <a:off x="354423" y="793404"/>
            <a:ext cx="360000" cy="953879"/>
          </a:xfrm>
          <a:prstGeom prst="roundRect">
            <a:avLst>
              <a:gd name="adj" fmla="val 16667"/>
            </a:avLst>
          </a:prstGeom>
          <a:solidFill>
            <a:srgbClr val="0070C0"/>
          </a:solidFill>
          <a:ln w="12700" cap="flat" cmpd="sng" algn="ctr">
            <a:noFill/>
            <a:prstDash val="solid"/>
          </a:ln>
          <a:effectLst/>
        </p:spPr>
        <p:txBody>
          <a:bodyPr vert="vert270" wrap="none" lIns="72000" tIns="72000" rIns="72000" bIns="72000" rtlCol="0" anchor="ctr"/>
          <a:lstStyle/>
          <a:p>
            <a:pPr marL="0" marR="0" lvl="0" indent="0" algn="ctr" defTabSz="83984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100" b="0" i="0" u="none" strike="noStrike" cap="none" spc="0" dirty="0">
                <a:ln>
                  <a:noFill/>
                </a:ln>
                <a:solidFill>
                  <a:srgbClr val="FFFFFF"/>
                </a:solidFill>
                <a:latin typeface="Calibri"/>
                <a:cs typeface="Calibri Light"/>
              </a:rPr>
              <a:t>Целевой </a:t>
            </a:r>
            <a:r>
              <a:rPr lang="en-US" sz="1100" b="0" i="0" u="none" strike="noStrike" cap="none" spc="0" dirty="0">
                <a:ln>
                  <a:noFill/>
                </a:ln>
                <a:solidFill>
                  <a:srgbClr val="FFFFFF"/>
                </a:solidFill>
                <a:latin typeface="Calibri"/>
                <a:cs typeface="Calibri Light"/>
              </a:rPr>
              <a:t>BI</a:t>
            </a:r>
            <a:endParaRPr lang="ru-RU" sz="1100" b="0" i="0" u="none" strike="noStrike" cap="none" spc="0" dirty="0">
              <a:ln>
                <a:noFill/>
              </a:ln>
              <a:solidFill>
                <a:srgbClr val="FFFFFF"/>
              </a:solidFill>
              <a:latin typeface="Calibri"/>
              <a:cs typeface="Calibri Light"/>
            </a:endParaRPr>
          </a:p>
        </p:txBody>
      </p:sp>
      <p:sp>
        <p:nvSpPr>
          <p:cNvPr id="206" name="Скругленный прямоугольник 205"/>
          <p:cNvSpPr/>
          <p:nvPr/>
        </p:nvSpPr>
        <p:spPr bwMode="auto">
          <a:xfrm>
            <a:off x="352815" y="1920584"/>
            <a:ext cx="360000" cy="2394147"/>
          </a:xfrm>
          <a:prstGeom prst="roundRect">
            <a:avLst>
              <a:gd name="adj" fmla="val 16667"/>
            </a:avLst>
          </a:prstGeom>
          <a:solidFill>
            <a:srgbClr val="0070C0"/>
          </a:solidFill>
          <a:ln w="12700" cap="flat" cmpd="sng" algn="ctr">
            <a:noFill/>
            <a:prstDash val="solid"/>
          </a:ln>
          <a:effectLst/>
        </p:spPr>
        <p:txBody>
          <a:bodyPr vert="vert270" wrap="none" lIns="72000" tIns="72000" rIns="72000" bIns="72000" rtlCol="0" anchor="ctr"/>
          <a:lstStyle/>
          <a:p>
            <a:pPr marL="0" marR="0" lvl="0" indent="0" algn="ctr" defTabSz="83984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200" dirty="0">
                <a:solidFill>
                  <a:srgbClr val="FFFFFF"/>
                </a:solidFill>
                <a:latin typeface="Calibri"/>
                <a:cs typeface="Calibri Light"/>
              </a:rPr>
              <a:t>Смежные команды</a:t>
            </a:r>
            <a:endParaRPr lang="ru-RU" sz="1200" b="0" i="0" u="none" strike="noStrike" cap="none" spc="0" dirty="0">
              <a:ln>
                <a:noFill/>
              </a:ln>
              <a:solidFill>
                <a:srgbClr val="FFFFFF"/>
              </a:solidFill>
              <a:latin typeface="Calibri"/>
              <a:ea typeface="+mn-ea"/>
              <a:cs typeface="Calibri Light"/>
            </a:endParaRPr>
          </a:p>
        </p:txBody>
      </p:sp>
      <p:sp>
        <p:nvSpPr>
          <p:cNvPr id="208" name="TextBox 207"/>
          <p:cNvSpPr txBox="1"/>
          <p:nvPr/>
        </p:nvSpPr>
        <p:spPr bwMode="auto">
          <a:xfrm>
            <a:off x="9790828" y="472687"/>
            <a:ext cx="6062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R="0" lvl="0" indent="0" defTabSz="5527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latin typeface="Calibri Light"/>
                <a:cs typeface="Calibri Light"/>
              </a:defRPr>
            </a:lvl1pPr>
          </a:lstStyle>
          <a:p>
            <a:pPr marL="0" marR="0" lvl="0" indent="0" algn="ctr" defTabSz="5527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2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 Light"/>
                <a:ea typeface="+mn-ea"/>
                <a:cs typeface="Calibri Light"/>
              </a:rPr>
              <a:t>Окт 26</a:t>
            </a:r>
            <a:endParaRPr/>
          </a:p>
        </p:txBody>
      </p:sp>
      <p:cxnSp>
        <p:nvCxnSpPr>
          <p:cNvPr id="209" name="Прямая соединительная линия 208"/>
          <p:cNvCxnSpPr>
            <a:cxnSpLocks/>
          </p:cNvCxnSpPr>
          <p:nvPr/>
        </p:nvCxnSpPr>
        <p:spPr bwMode="auto">
          <a:xfrm>
            <a:off x="7040936" y="622950"/>
            <a:ext cx="0" cy="5832000"/>
          </a:xfrm>
          <a:prstGeom prst="line">
            <a:avLst/>
          </a:prstGeom>
          <a:noFill/>
          <a:ln w="6350" cap="flat" cmpd="sng" algn="ctr">
            <a:solidFill>
              <a:srgbClr val="4472C4">
                <a:lumMod val="60000"/>
                <a:lumOff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10" name="Прямая соединительная линия 209"/>
          <p:cNvCxnSpPr>
            <a:cxnSpLocks/>
          </p:cNvCxnSpPr>
          <p:nvPr/>
        </p:nvCxnSpPr>
        <p:spPr bwMode="auto">
          <a:xfrm>
            <a:off x="4273706" y="631576"/>
            <a:ext cx="0" cy="5832000"/>
          </a:xfrm>
          <a:prstGeom prst="line">
            <a:avLst/>
          </a:prstGeom>
          <a:noFill/>
          <a:ln w="6350" cap="flat" cmpd="sng" algn="ctr">
            <a:solidFill>
              <a:srgbClr val="4472C4">
                <a:lumMod val="60000"/>
                <a:lumOff val="40000"/>
              </a:srgbClr>
            </a:solidFill>
            <a:prstDash val="solid"/>
            <a:miter lim="800000"/>
          </a:ln>
          <a:effectLst/>
        </p:spPr>
      </p:cxnSp>
      <p:sp>
        <p:nvSpPr>
          <p:cNvPr id="211" name="TextBox 210"/>
          <p:cNvSpPr txBox="1"/>
          <p:nvPr/>
        </p:nvSpPr>
        <p:spPr bwMode="auto">
          <a:xfrm>
            <a:off x="2968934" y="472687"/>
            <a:ext cx="6174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R="0" lvl="0" indent="0" defTabSz="5527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latin typeface="Calibri Light"/>
                <a:cs typeface="Calibri Light"/>
              </a:defRPr>
            </a:lvl1pPr>
          </a:lstStyle>
          <a:p>
            <a:pPr marL="0" marR="0" lvl="0" indent="0" algn="ctr" defTabSz="5527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2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 Light"/>
                <a:ea typeface="+mn-ea"/>
                <a:cs typeface="Calibri Light"/>
              </a:rPr>
              <a:t>Дек 25</a:t>
            </a:r>
            <a:endParaRPr/>
          </a:p>
        </p:txBody>
      </p:sp>
      <p:sp>
        <p:nvSpPr>
          <p:cNvPr id="213" name="Прямоугольник 212"/>
          <p:cNvSpPr/>
          <p:nvPr/>
        </p:nvSpPr>
        <p:spPr bwMode="auto">
          <a:xfrm>
            <a:off x="0" y="6557177"/>
            <a:ext cx="4140000" cy="300823"/>
          </a:xfrm>
          <a:prstGeom prst="rect">
            <a:avLst/>
          </a:prstGeom>
          <a:solidFill>
            <a:srgbClr val="5B9BD5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prstClr val="white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14" name="Ромб 213"/>
          <p:cNvSpPr/>
          <p:nvPr/>
        </p:nvSpPr>
        <p:spPr bwMode="auto">
          <a:xfrm>
            <a:off x="32531" y="6655862"/>
            <a:ext cx="89505" cy="89505"/>
          </a:xfrm>
          <a:prstGeom prst="diamond">
            <a:avLst/>
          </a:prstGeom>
          <a:solidFill>
            <a:srgbClr val="FF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500" b="0" i="0" u="none" strike="noStrike" cap="none" spc="0">
              <a:ln>
                <a:noFill/>
              </a:ln>
              <a:solidFill>
                <a:prstClr val="white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15" name="TextBox 214"/>
          <p:cNvSpPr txBox="1"/>
          <p:nvPr/>
        </p:nvSpPr>
        <p:spPr bwMode="auto">
          <a:xfrm>
            <a:off x="151974" y="6616105"/>
            <a:ext cx="802696" cy="179009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noAutofit/>
          </a:bodyPr>
          <a:lstStyle>
            <a:defPPr>
              <a:defRPr lang="ru-RU"/>
            </a:defPPr>
            <a:lvl1pPr>
              <a:lnSpc>
                <a:spcPct val="70000"/>
              </a:lnSpc>
              <a:defRPr sz="900">
                <a:latin typeface="+mj-lt"/>
              </a:defRPr>
            </a:lvl1pPr>
          </a:lstStyle>
          <a:p>
            <a:pPr marL="0" marR="0" lvl="0" indent="0" algn="l" defTabSz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85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 Light"/>
                <a:ea typeface="+mn-ea"/>
                <a:cs typeface="Calibri Light"/>
              </a:rPr>
              <a:t>П</a:t>
            </a:r>
            <a:r>
              <a:rPr lang="ru-RU" sz="65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 Light"/>
                <a:ea typeface="+mn-ea"/>
                <a:cs typeface="Calibri Light"/>
              </a:rPr>
              <a:t>росроченная веха или зависимость</a:t>
            </a:r>
            <a:endParaRPr/>
          </a:p>
        </p:txBody>
      </p:sp>
      <p:sp>
        <p:nvSpPr>
          <p:cNvPr id="216" name="Ромб 215"/>
          <p:cNvSpPr/>
          <p:nvPr/>
        </p:nvSpPr>
        <p:spPr bwMode="auto">
          <a:xfrm>
            <a:off x="898664" y="6655862"/>
            <a:ext cx="89505" cy="89505"/>
          </a:xfrm>
          <a:prstGeom prst="diamond">
            <a:avLst/>
          </a:prstGeom>
          <a:solidFill>
            <a:srgbClr val="00B050"/>
          </a:solidFill>
          <a:ln w="1270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500" b="0" i="0" u="none" strike="noStrike" cap="none" spc="0">
              <a:ln>
                <a:noFill/>
              </a:ln>
              <a:solidFill>
                <a:prstClr val="white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17" name="TextBox 216"/>
          <p:cNvSpPr txBox="1"/>
          <p:nvPr/>
        </p:nvSpPr>
        <p:spPr bwMode="auto">
          <a:xfrm>
            <a:off x="1021756" y="6616105"/>
            <a:ext cx="802696" cy="179009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noAutofit/>
          </a:bodyPr>
          <a:lstStyle>
            <a:defPPr>
              <a:defRPr lang="ru-RU"/>
            </a:defPPr>
            <a:lvl1pPr>
              <a:lnSpc>
                <a:spcPct val="70000"/>
              </a:lnSpc>
              <a:defRPr sz="900">
                <a:latin typeface="+mj-lt"/>
              </a:defRPr>
            </a:lvl1pPr>
          </a:lstStyle>
          <a:p>
            <a:pPr marL="0" marR="0" lvl="0" indent="0" algn="l" defTabSz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65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 Light"/>
                <a:ea typeface="+mn-ea"/>
                <a:cs typeface="Calibri Light"/>
              </a:rPr>
              <a:t>Выполненная веха или зависимость</a:t>
            </a:r>
            <a:endParaRPr/>
          </a:p>
        </p:txBody>
      </p:sp>
      <p:sp>
        <p:nvSpPr>
          <p:cNvPr id="218" name="Ромб 217"/>
          <p:cNvSpPr/>
          <p:nvPr/>
        </p:nvSpPr>
        <p:spPr bwMode="auto">
          <a:xfrm>
            <a:off x="1735650" y="6655862"/>
            <a:ext cx="89505" cy="89505"/>
          </a:xfrm>
          <a:prstGeom prst="diamond">
            <a:avLst/>
          </a:prstGeom>
          <a:solidFill>
            <a:sysClr val="window" lastClr="FFFFFF"/>
          </a:solidFill>
          <a:ln w="1905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500" b="0" i="0" u="none" strike="noStrike" cap="none" spc="0">
              <a:ln>
                <a:noFill/>
              </a:ln>
              <a:solidFill>
                <a:prstClr val="white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19" name="TextBox 218"/>
          <p:cNvSpPr txBox="1"/>
          <p:nvPr/>
        </p:nvSpPr>
        <p:spPr bwMode="auto">
          <a:xfrm>
            <a:off x="1858040" y="6616105"/>
            <a:ext cx="661740" cy="179009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noAutofit/>
          </a:bodyPr>
          <a:lstStyle>
            <a:defPPr>
              <a:defRPr lang="ru-RU"/>
            </a:defPPr>
            <a:lvl1pPr>
              <a:lnSpc>
                <a:spcPct val="70000"/>
              </a:lnSpc>
              <a:defRPr sz="900">
                <a:latin typeface="+mj-lt"/>
              </a:defRPr>
            </a:lvl1pPr>
          </a:lstStyle>
          <a:p>
            <a:pPr marL="0" marR="0" lvl="0" indent="0" algn="l" defTabSz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65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 Light"/>
                <a:ea typeface="+mn-ea"/>
                <a:cs typeface="Calibri Light"/>
              </a:rPr>
              <a:t>Плановая  веха или зависимость</a:t>
            </a:r>
            <a:endParaRPr/>
          </a:p>
        </p:txBody>
      </p:sp>
      <p:sp>
        <p:nvSpPr>
          <p:cNvPr id="220" name="Ромб 219"/>
          <p:cNvSpPr/>
          <p:nvPr/>
        </p:nvSpPr>
        <p:spPr bwMode="auto">
          <a:xfrm>
            <a:off x="2496930" y="6655862"/>
            <a:ext cx="89505" cy="89505"/>
          </a:xfrm>
          <a:prstGeom prst="diamond">
            <a:avLst/>
          </a:prstGeom>
          <a:solidFill>
            <a:srgbClr val="FFFFFF"/>
          </a:solidFill>
          <a:ln w="1905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500" b="0" i="0" u="none" strike="noStrike" cap="none" spc="0">
              <a:ln>
                <a:noFill/>
              </a:ln>
              <a:solidFill>
                <a:prstClr val="white"/>
              </a:solidFill>
              <a:latin typeface="Calibri"/>
              <a:ea typeface="+mn-ea"/>
              <a:cs typeface="+mn-cs"/>
            </a:endParaRPr>
          </a:p>
        </p:txBody>
      </p:sp>
      <p:sp>
        <p:nvSpPr>
          <p:cNvPr id="221" name="TextBox 220"/>
          <p:cNvSpPr txBox="1"/>
          <p:nvPr/>
        </p:nvSpPr>
        <p:spPr bwMode="auto">
          <a:xfrm>
            <a:off x="2648370" y="6619972"/>
            <a:ext cx="880165" cy="175143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noAutofit/>
          </a:bodyPr>
          <a:lstStyle>
            <a:defPPr>
              <a:defRPr lang="ru-RU"/>
            </a:defPPr>
            <a:lvl1pPr>
              <a:lnSpc>
                <a:spcPct val="70000"/>
              </a:lnSpc>
              <a:defRPr sz="900">
                <a:latin typeface="+mj-lt"/>
              </a:defRPr>
            </a:lvl1pPr>
          </a:lstStyle>
          <a:p>
            <a:pPr marL="0" marR="0" lvl="0" indent="0" algn="l" defTabSz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65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 Light"/>
                <a:ea typeface="+mn-ea"/>
                <a:cs typeface="Calibri Light"/>
              </a:rPr>
              <a:t>Веха или зависимость под риском</a:t>
            </a:r>
            <a:endParaRPr/>
          </a:p>
        </p:txBody>
      </p:sp>
      <p:sp>
        <p:nvSpPr>
          <p:cNvPr id="225" name="Скругленный прямоугольник 224"/>
          <p:cNvSpPr/>
          <p:nvPr/>
        </p:nvSpPr>
        <p:spPr bwMode="auto">
          <a:xfrm>
            <a:off x="354423" y="4377618"/>
            <a:ext cx="360000" cy="2116672"/>
          </a:xfrm>
          <a:prstGeom prst="roundRect">
            <a:avLst>
              <a:gd name="adj" fmla="val 16667"/>
            </a:avLst>
          </a:prstGeom>
          <a:solidFill>
            <a:srgbClr val="7030A0"/>
          </a:solidFill>
          <a:ln w="12700" cap="flat" cmpd="sng" algn="ctr">
            <a:noFill/>
            <a:prstDash val="solid"/>
          </a:ln>
          <a:effectLst/>
        </p:spPr>
        <p:txBody>
          <a:bodyPr vert="vert270" wrap="square" lIns="72000" tIns="72000" rIns="72000" bIns="72000" rtlCol="0" anchor="ctr"/>
          <a:lstStyle/>
          <a:p>
            <a:pPr marL="0" marR="0" lvl="0" indent="0" algn="ctr" defTabSz="83984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200">
                <a:solidFill>
                  <a:srgbClr val="FFFFFF"/>
                </a:solidFill>
                <a:latin typeface="Calibri"/>
                <a:cs typeface="Calibri Light"/>
              </a:rPr>
              <a:t>Инсталляция</a:t>
            </a:r>
            <a:endParaRPr lang="ru-RU" sz="1200" b="0" i="0" u="none" strike="noStrike" cap="none" spc="0">
              <a:ln>
                <a:noFill/>
              </a:ln>
              <a:solidFill>
                <a:srgbClr val="FFFFFF"/>
              </a:solidFill>
              <a:latin typeface="Calibri"/>
              <a:ea typeface="+mn-ea"/>
              <a:cs typeface="Calibri Light"/>
            </a:endParaRPr>
          </a:p>
        </p:txBody>
      </p:sp>
      <p:sp>
        <p:nvSpPr>
          <p:cNvPr id="226" name="TextBox 225"/>
          <p:cNvSpPr txBox="1"/>
          <p:nvPr/>
        </p:nvSpPr>
        <p:spPr bwMode="auto">
          <a:xfrm>
            <a:off x="978471" y="472687"/>
            <a:ext cx="6158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R="0" lvl="0" indent="0" defTabSz="5527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latin typeface="Calibri Light"/>
                <a:cs typeface="Calibri Light"/>
              </a:defRPr>
            </a:lvl1pPr>
          </a:lstStyle>
          <a:p>
            <a:pPr marL="0" marR="0" lvl="0" indent="0" algn="ctr" defTabSz="5527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2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 Light"/>
                <a:ea typeface="+mn-ea"/>
                <a:cs typeface="Calibri Light"/>
              </a:rPr>
              <a:t>Сен 25</a:t>
            </a:r>
            <a:endParaRPr/>
          </a:p>
        </p:txBody>
      </p:sp>
      <p:sp>
        <p:nvSpPr>
          <p:cNvPr id="227" name="TextBox 226"/>
          <p:cNvSpPr txBox="1"/>
          <p:nvPr/>
        </p:nvSpPr>
        <p:spPr bwMode="auto">
          <a:xfrm>
            <a:off x="1643027" y="472687"/>
            <a:ext cx="6062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R="0" lvl="0" indent="0" defTabSz="5527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latin typeface="Calibri Light"/>
                <a:cs typeface="Calibri Light"/>
              </a:defRPr>
            </a:lvl1pPr>
          </a:lstStyle>
          <a:p>
            <a:pPr marL="0" marR="0" lvl="0" indent="0" algn="ctr" defTabSz="5527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2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 Light"/>
                <a:ea typeface="+mn-ea"/>
                <a:cs typeface="Calibri Light"/>
              </a:rPr>
              <a:t>Окт 25</a:t>
            </a:r>
            <a:endParaRPr/>
          </a:p>
        </p:txBody>
      </p:sp>
      <p:cxnSp>
        <p:nvCxnSpPr>
          <p:cNvPr id="230" name="Прямая соединительная линия 229"/>
          <p:cNvCxnSpPr>
            <a:cxnSpLocks/>
          </p:cNvCxnSpPr>
          <p:nvPr/>
        </p:nvCxnSpPr>
        <p:spPr bwMode="auto">
          <a:xfrm>
            <a:off x="1618687" y="622950"/>
            <a:ext cx="0" cy="5832000"/>
          </a:xfrm>
          <a:prstGeom prst="line">
            <a:avLst/>
          </a:prstGeom>
          <a:noFill/>
          <a:ln w="6350" cap="flat" cmpd="sng" algn="ctr">
            <a:solidFill>
              <a:srgbClr val="4472C4">
                <a:lumMod val="60000"/>
                <a:lumOff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32" name="Прямая соединительная линия 231"/>
          <p:cNvCxnSpPr>
            <a:cxnSpLocks/>
          </p:cNvCxnSpPr>
          <p:nvPr/>
        </p:nvCxnSpPr>
        <p:spPr bwMode="auto">
          <a:xfrm>
            <a:off x="9766487" y="622950"/>
            <a:ext cx="0" cy="5832000"/>
          </a:xfrm>
          <a:prstGeom prst="line">
            <a:avLst/>
          </a:prstGeom>
          <a:noFill/>
          <a:ln w="6350" cap="flat" cmpd="sng" algn="ctr">
            <a:solidFill>
              <a:srgbClr val="4472C4">
                <a:lumMod val="60000"/>
                <a:lumOff val="40000"/>
              </a:srgbClr>
            </a:solidFill>
            <a:prstDash val="solid"/>
            <a:miter lim="800000"/>
          </a:ln>
          <a:effectLst/>
        </p:spPr>
      </p:cxnSp>
      <p:sp>
        <p:nvSpPr>
          <p:cNvPr id="7" name="TextBox 6"/>
          <p:cNvSpPr txBox="1"/>
          <p:nvPr/>
        </p:nvSpPr>
        <p:spPr bwMode="auto">
          <a:xfrm>
            <a:off x="3792986" y="6616107"/>
            <a:ext cx="432000" cy="179009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noAutofit/>
          </a:bodyPr>
          <a:lstStyle>
            <a:defPPr>
              <a:defRPr lang="ru-RU"/>
            </a:defPPr>
            <a:lvl1pPr>
              <a:lnSpc>
                <a:spcPct val="70000"/>
              </a:lnSpc>
              <a:defRPr sz="900">
                <a:latin typeface="+mj-lt"/>
              </a:defRPr>
            </a:lvl1pPr>
          </a:lstStyle>
          <a:p>
            <a:pPr marL="0" marR="0" lvl="0" indent="0" algn="l" defTabSz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65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 Light"/>
                <a:ea typeface="+mn-ea"/>
                <a:cs typeface="Calibri Light"/>
              </a:rPr>
              <a:t>Перенос вехи</a:t>
            </a:r>
            <a:endParaRPr/>
          </a:p>
        </p:txBody>
      </p:sp>
      <p:cxnSp>
        <p:nvCxnSpPr>
          <p:cNvPr id="8" name="Прямая со стрелкой 7"/>
          <p:cNvCxnSpPr>
            <a:cxnSpLocks/>
          </p:cNvCxnSpPr>
          <p:nvPr/>
        </p:nvCxnSpPr>
        <p:spPr bwMode="auto">
          <a:xfrm flipV="1">
            <a:off x="3503781" y="6758736"/>
            <a:ext cx="236538" cy="1"/>
          </a:xfrm>
          <a:prstGeom prst="straightConnector1">
            <a:avLst/>
          </a:prstGeom>
          <a:noFill/>
          <a:ln w="12700" cap="flat" cmpd="sng" algn="ctr">
            <a:solidFill>
              <a:srgbClr val="FF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9" name="Прямая со стрелкой 8"/>
          <p:cNvCxnSpPr>
            <a:cxnSpLocks/>
          </p:cNvCxnSpPr>
          <p:nvPr/>
        </p:nvCxnSpPr>
        <p:spPr bwMode="auto">
          <a:xfrm flipH="1" flipV="1">
            <a:off x="3503781" y="6657136"/>
            <a:ext cx="236538" cy="1"/>
          </a:xfrm>
          <a:prstGeom prst="straightConnector1">
            <a:avLst/>
          </a:prstGeom>
          <a:noFill/>
          <a:ln w="12700" cap="flat" cmpd="sng" algn="ctr">
            <a:solidFill>
              <a:srgbClr val="00B05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2" name="TextBox 21"/>
          <p:cNvSpPr txBox="1"/>
          <p:nvPr/>
        </p:nvSpPr>
        <p:spPr bwMode="auto">
          <a:xfrm>
            <a:off x="10445766" y="472687"/>
            <a:ext cx="6222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R="0" lvl="0" indent="0" defTabSz="5527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latin typeface="Calibri Light"/>
                <a:cs typeface="Calibri Light"/>
              </a:defRPr>
            </a:lvl1pPr>
          </a:lstStyle>
          <a:p>
            <a:pPr marL="0" marR="0" lvl="0" indent="0" algn="ctr" defTabSz="5527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2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 Light"/>
                <a:ea typeface="+mn-ea"/>
                <a:cs typeface="Calibri Light"/>
              </a:rPr>
              <a:t>Ноя 26</a:t>
            </a:r>
            <a:endParaRPr/>
          </a:p>
        </p:txBody>
      </p:sp>
      <p:sp>
        <p:nvSpPr>
          <p:cNvPr id="24" name="TextBox 23"/>
          <p:cNvSpPr txBox="1"/>
          <p:nvPr/>
        </p:nvSpPr>
        <p:spPr bwMode="auto">
          <a:xfrm>
            <a:off x="11100404" y="472686"/>
            <a:ext cx="658055" cy="2746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ru-RU"/>
            </a:defPPr>
            <a:lvl1pPr marR="0" lvl="0" indent="0" defTabSz="5527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0" i="0" u="none" strike="noStrike" cap="none" spc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latin typeface="Calibri Light"/>
                <a:cs typeface="Calibri Light"/>
              </a:defRPr>
            </a:lvl1pPr>
          </a:lstStyle>
          <a:p>
            <a:pPr marL="0" marR="0" lvl="0" indent="0" algn="ctr" defTabSz="55272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2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 Light"/>
                <a:ea typeface="+mn-ea"/>
                <a:cs typeface="Calibri Light"/>
              </a:rPr>
              <a:t>Июл 27</a:t>
            </a:r>
            <a:endParaRPr/>
          </a:p>
        </p:txBody>
      </p:sp>
      <p:sp>
        <p:nvSpPr>
          <p:cNvPr id="17" name="Заголовок 1"/>
          <p:cNvSpPr txBox="1"/>
          <p:nvPr/>
        </p:nvSpPr>
        <p:spPr bwMode="auto">
          <a:xfrm>
            <a:off x="220692" y="115648"/>
            <a:ext cx="11423437" cy="46691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ru-RU"/>
            </a:defPPr>
            <a:lvl1pPr marR="0" lv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1" u="none" strike="noStrike" cap="none" spc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SB Sans Display Semibold"/>
                <a:ea typeface="+mj-ea"/>
                <a:cs typeface="SB Sans Display Semibold"/>
              </a:defRPr>
            </a:lvl1pPr>
          </a:lstStyle>
          <a:p>
            <a:pPr lvl="0">
              <a:defRPr/>
            </a:pPr>
            <a:r>
              <a:rPr lang="ru-RU" sz="1800" b="0" dirty="0">
                <a:solidFill>
                  <a:srgbClr val="3F3F3F"/>
                </a:solidFill>
                <a:latin typeface="SB Sans Text" panose="020B0503040504020204" pitchFamily="34" charset="0"/>
                <a:cs typeface="SB Sans Text" panose="020B0503040504020204" pitchFamily="34" charset="0"/>
              </a:rPr>
              <a:t>Миграция с </a:t>
            </a:r>
            <a:r>
              <a:rPr lang="en-US" sz="1800" b="0" dirty="0">
                <a:solidFill>
                  <a:srgbClr val="3F3F3F"/>
                </a:solidFill>
                <a:latin typeface="SB Sans Text" panose="020B0503040504020204" pitchFamily="34" charset="0"/>
                <a:cs typeface="SB Sans Text" panose="020B0503040504020204" pitchFamily="34" charset="0"/>
              </a:rPr>
              <a:t>Qlik </a:t>
            </a:r>
            <a:r>
              <a:rPr lang="ru-RU" sz="1800" b="0" dirty="0">
                <a:solidFill>
                  <a:srgbClr val="3F3F3F"/>
                </a:solidFill>
                <a:latin typeface="SB Sans Text" panose="020B0503040504020204" pitchFamily="34" charset="0"/>
                <a:cs typeface="SB Sans Text" panose="020B0503040504020204" pitchFamily="34" charset="0"/>
              </a:rPr>
              <a:t>на </a:t>
            </a:r>
            <a:r>
              <a:rPr lang="en-US" sz="1800" b="0" dirty="0">
                <a:solidFill>
                  <a:srgbClr val="3F3F3F"/>
                </a:solidFill>
                <a:latin typeface="SB Sans Text" panose="020B0503040504020204" pitchFamily="34" charset="0"/>
                <a:cs typeface="SB Sans Text" panose="020B0503040504020204" pitchFamily="34" charset="0"/>
              </a:rPr>
              <a:t>BI</a:t>
            </a:r>
            <a:r>
              <a:rPr lang="ru-RU" sz="1800" b="0" dirty="0">
                <a:solidFill>
                  <a:srgbClr val="3F3F3F"/>
                </a:solidFill>
                <a:latin typeface="SB Sans Text" panose="020B0503040504020204" pitchFamily="34" charset="0"/>
                <a:cs typeface="SB Sans Text" panose="020B0503040504020204" pitchFamily="34" charset="0"/>
              </a:rPr>
              <a:t>-систему</a:t>
            </a:r>
            <a:r>
              <a:rPr lang="en-US" sz="1800" b="0" dirty="0">
                <a:solidFill>
                  <a:srgbClr val="3F3F3F"/>
                </a:solidFill>
                <a:latin typeface="SB Sans Text" panose="020B0503040504020204" pitchFamily="34" charset="0"/>
                <a:cs typeface="SB Sans Text" panose="020B0503040504020204" pitchFamily="34" charset="0"/>
              </a:rPr>
              <a:t> </a:t>
            </a:r>
            <a:r>
              <a:rPr lang="ru-RU" sz="1800" b="0" dirty="0">
                <a:solidFill>
                  <a:srgbClr val="3F3F3F"/>
                </a:solidFill>
                <a:latin typeface="SB Sans Text" panose="020B0503040504020204" pitchFamily="34" charset="0"/>
                <a:cs typeface="SB Sans Text" panose="020B0503040504020204" pitchFamily="34" charset="0"/>
              </a:rPr>
              <a:t>собственной разработки. Проект 3</a:t>
            </a:r>
            <a:endParaRPr lang="en-US" sz="1800" b="0" dirty="0">
              <a:solidFill>
                <a:srgbClr val="3F3F3F"/>
              </a:solidFill>
              <a:latin typeface="SB Sans Text" panose="020B0503040504020204" pitchFamily="34" charset="0"/>
              <a:cs typeface="SB Sans Text" panose="020B0503040504020204" pitchFamily="34" charset="0"/>
            </a:endParaRPr>
          </a:p>
        </p:txBody>
      </p:sp>
      <p:sp>
        <p:nvSpPr>
          <p:cNvPr id="83" name="TextBox 82"/>
          <p:cNvSpPr txBox="1"/>
          <p:nvPr/>
        </p:nvSpPr>
        <p:spPr bwMode="auto">
          <a:xfrm>
            <a:off x="903232" y="3273426"/>
            <a:ext cx="2714369" cy="332399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</p:spPr>
        <p:txBody>
          <a:bodyPr wrap="square" lIns="36000" tIns="36000" rIns="36000" bIns="36000" rtlCol="0" anchor="ctr" anchorCtr="0">
            <a:spAutoFit/>
          </a:bodyPr>
          <a:lstStyle>
            <a:defPPr>
              <a:defRPr lang="ru-RU"/>
            </a:defPPr>
            <a:lvl1pPr marR="0" lv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" b="0" i="0" u="none" strike="noStrike" cap="none" spc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latin typeface="SB Sans Text"/>
                <a:cs typeface="SB Sans Text"/>
              </a:defRPr>
            </a:lvl1pPr>
          </a:lstStyle>
          <a:p>
            <a:pPr>
              <a:defRPr/>
            </a:pPr>
            <a:r>
              <a:rPr lang="en-US" sz="900"/>
              <a:t>31.12</a:t>
            </a:r>
            <a:endParaRPr/>
          </a:p>
          <a:p>
            <a:pPr>
              <a:defRPr/>
            </a:pPr>
            <a:r>
              <a:rPr lang="ru-RU" sz="900"/>
              <a:t>Вывод в ПРОМ коммунального </a:t>
            </a:r>
            <a:r>
              <a:rPr lang="en-US" sz="900"/>
              <a:t>GreenPlum</a:t>
            </a:r>
            <a:endParaRPr lang="ru-RU" sz="900"/>
          </a:p>
          <a:p>
            <a:pPr>
              <a:defRPr/>
            </a:pPr>
            <a:r>
              <a:rPr lang="en-US" sz="900"/>
              <a:t> </a:t>
            </a:r>
            <a:r>
              <a:rPr lang="ru-RU" sz="900"/>
              <a:t>с </a:t>
            </a:r>
            <a:r>
              <a:rPr lang="en-US" sz="900"/>
              <a:t>AirFlow </a:t>
            </a:r>
            <a:r>
              <a:rPr lang="ru-RU" sz="900"/>
              <a:t>как </a:t>
            </a:r>
            <a:r>
              <a:rPr lang="en-US" sz="900"/>
              <a:t>ETL </a:t>
            </a:r>
            <a:r>
              <a:rPr lang="ru-RU" sz="900"/>
              <a:t>инструмент</a:t>
            </a:r>
            <a:endParaRPr lang="en-US" sz="900"/>
          </a:p>
        </p:txBody>
      </p:sp>
      <p:sp>
        <p:nvSpPr>
          <p:cNvPr id="84" name="Ромб 83"/>
          <p:cNvSpPr>
            <a:spLocks noChangeAspect="1"/>
          </p:cNvSpPr>
          <p:nvPr/>
        </p:nvSpPr>
        <p:spPr bwMode="auto">
          <a:xfrm>
            <a:off x="3532189" y="3347616"/>
            <a:ext cx="180000" cy="180000"/>
          </a:xfrm>
          <a:prstGeom prst="diamond">
            <a:avLst/>
          </a:prstGeom>
          <a:solidFill>
            <a:srgbClr val="00B050"/>
          </a:solidFill>
          <a:ln w="1905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500" b="0" i="0" u="none" strike="noStrike" cap="none" spc="0">
              <a:ln>
                <a:noFill/>
              </a:ln>
              <a:solidFill>
                <a:prstClr val="white"/>
              </a:solidFill>
              <a:latin typeface="Calibri Light"/>
              <a:ea typeface="+mn-ea"/>
              <a:cs typeface="+mn-cs"/>
            </a:endParaRPr>
          </a:p>
        </p:txBody>
      </p:sp>
      <p:sp>
        <p:nvSpPr>
          <p:cNvPr id="5" name="Прямоугольник 4"/>
          <p:cNvSpPr/>
          <p:nvPr/>
        </p:nvSpPr>
        <p:spPr bwMode="auto">
          <a:xfrm>
            <a:off x="943416" y="5587452"/>
            <a:ext cx="4668751" cy="301227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</p:spPr>
        <p:txBody>
          <a:bodyPr wrap="square" lIns="36000" tIns="36000" rIns="36000" bIns="36000" rtlCol="0" anchor="ctr" anchorCtr="0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en-US" sz="900" dirty="0">
                <a:solidFill>
                  <a:srgbClr val="5B9BD5">
                    <a:lumMod val="50000"/>
                  </a:srgbClr>
                </a:solidFill>
                <a:latin typeface="SB Sans Text"/>
                <a:cs typeface="SB Sans Text"/>
              </a:rPr>
              <a:t>31.03 </a:t>
            </a:r>
            <a:endParaRPr dirty="0"/>
          </a:p>
          <a:p>
            <a:pPr>
              <a:lnSpc>
                <a:spcPct val="80000"/>
              </a:lnSpc>
              <a:defRPr/>
            </a:pPr>
            <a:r>
              <a:rPr lang="ru-RU" sz="900" dirty="0">
                <a:solidFill>
                  <a:srgbClr val="5B9BD5">
                    <a:lumMod val="50000"/>
                  </a:srgbClr>
                </a:solidFill>
                <a:latin typeface="SB Sans Text"/>
                <a:cs typeface="SB Sans Text"/>
              </a:rPr>
              <a:t>Анализ новых источников данных</a:t>
            </a:r>
            <a:endParaRPr dirty="0"/>
          </a:p>
        </p:txBody>
      </p:sp>
      <p:sp>
        <p:nvSpPr>
          <p:cNvPr id="92" name="Ромб 91"/>
          <p:cNvSpPr>
            <a:spLocks noChangeAspect="1"/>
          </p:cNvSpPr>
          <p:nvPr/>
        </p:nvSpPr>
        <p:spPr bwMode="auto">
          <a:xfrm>
            <a:off x="3524898" y="5652169"/>
            <a:ext cx="180000" cy="180000"/>
          </a:xfrm>
          <a:prstGeom prst="diamond">
            <a:avLst/>
          </a:prstGeom>
          <a:solidFill>
            <a:srgbClr val="00B050"/>
          </a:solidFill>
          <a:ln w="1905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500" b="0" i="0" u="none" strike="noStrike" cap="none" spc="0">
              <a:ln>
                <a:noFill/>
              </a:ln>
              <a:solidFill>
                <a:prstClr val="white"/>
              </a:solidFill>
              <a:latin typeface="Calibri Light"/>
              <a:ea typeface="+mn-ea"/>
              <a:cs typeface="+mn-cs"/>
            </a:endParaRPr>
          </a:p>
        </p:txBody>
      </p:sp>
      <p:sp>
        <p:nvSpPr>
          <p:cNvPr id="93" name="Прямоугольник 92"/>
          <p:cNvSpPr/>
          <p:nvPr/>
        </p:nvSpPr>
        <p:spPr bwMode="auto">
          <a:xfrm>
            <a:off x="3758324" y="4702258"/>
            <a:ext cx="1901024" cy="518210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</p:spPr>
        <p:txBody>
          <a:bodyPr wrap="square" lIns="36000" tIns="36000" rIns="36000" bIns="36000" rtlCol="0" anchor="ctr" anchorCtr="0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ru-RU" sz="900" dirty="0">
                <a:solidFill>
                  <a:srgbClr val="5B9BD5">
                    <a:lumMod val="50000"/>
                  </a:srgbClr>
                </a:solidFill>
                <a:latin typeface="SB Sans Text"/>
                <a:cs typeface="SB Sans Text"/>
              </a:rPr>
              <a:t>31.03</a:t>
            </a:r>
            <a:endParaRPr dirty="0"/>
          </a:p>
          <a:p>
            <a:pPr>
              <a:lnSpc>
                <a:spcPct val="80000"/>
              </a:lnSpc>
              <a:defRPr/>
            </a:pPr>
            <a:r>
              <a:rPr lang="ru-RU" sz="900" dirty="0">
                <a:solidFill>
                  <a:srgbClr val="5B9BD5">
                    <a:lumMod val="50000"/>
                  </a:srgbClr>
                </a:solidFill>
                <a:latin typeface="SB Sans Text"/>
                <a:cs typeface="SB Sans Text"/>
              </a:rPr>
              <a:t>Переработка ТОП-10 витрин над данными новых источников</a:t>
            </a:r>
          </a:p>
        </p:txBody>
      </p:sp>
      <p:sp>
        <p:nvSpPr>
          <p:cNvPr id="94" name="Ромб 93"/>
          <p:cNvSpPr>
            <a:spLocks noChangeAspect="1"/>
          </p:cNvSpPr>
          <p:nvPr/>
        </p:nvSpPr>
        <p:spPr bwMode="auto">
          <a:xfrm>
            <a:off x="5574815" y="4873880"/>
            <a:ext cx="180000" cy="180000"/>
          </a:xfrm>
          <a:prstGeom prst="diamond">
            <a:avLst/>
          </a:prstGeom>
          <a:solidFill>
            <a:srgbClr val="00B050"/>
          </a:solidFill>
          <a:ln w="1905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500" b="0" i="0" u="none" strike="noStrike" cap="none" spc="0">
              <a:ln>
                <a:noFill/>
              </a:ln>
              <a:solidFill>
                <a:prstClr val="white"/>
              </a:solidFill>
              <a:latin typeface="Calibri Light"/>
              <a:ea typeface="+mn-ea"/>
              <a:cs typeface="+mn-cs"/>
            </a:endParaRPr>
          </a:p>
        </p:txBody>
      </p:sp>
      <p:sp>
        <p:nvSpPr>
          <p:cNvPr id="96" name="Прямоугольник 95"/>
          <p:cNvSpPr/>
          <p:nvPr/>
        </p:nvSpPr>
        <p:spPr bwMode="auto">
          <a:xfrm>
            <a:off x="5806919" y="4705272"/>
            <a:ext cx="1953661" cy="401544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</p:spPr>
        <p:txBody>
          <a:bodyPr wrap="square" lIns="36000" tIns="36000" rIns="36000" bIns="36000" rtlCol="0" anchor="ctr" anchorCtr="0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ru-RU" sz="900">
                <a:solidFill>
                  <a:srgbClr val="5B9BD5">
                    <a:lumMod val="50000"/>
                  </a:srgbClr>
                </a:solidFill>
                <a:latin typeface="SB Sans Text"/>
                <a:cs typeface="SB Sans Text"/>
              </a:rPr>
              <a:t>30.06</a:t>
            </a:r>
            <a:endParaRPr/>
          </a:p>
          <a:p>
            <a:pPr>
              <a:lnSpc>
                <a:spcPct val="80000"/>
              </a:lnSpc>
              <a:defRPr/>
            </a:pPr>
            <a:r>
              <a:rPr lang="ru-RU" sz="900">
                <a:solidFill>
                  <a:srgbClr val="5B9BD5">
                    <a:lumMod val="50000"/>
                  </a:srgbClr>
                </a:solidFill>
                <a:latin typeface="SB Sans Text"/>
                <a:cs typeface="SB Sans Text"/>
              </a:rPr>
              <a:t>Подготовка витрин по 10 отчетам УРИИАиС</a:t>
            </a:r>
          </a:p>
        </p:txBody>
      </p:sp>
      <p:sp>
        <p:nvSpPr>
          <p:cNvPr id="100" name="Прямоугольник 99"/>
          <p:cNvSpPr/>
          <p:nvPr/>
        </p:nvSpPr>
        <p:spPr bwMode="auto">
          <a:xfrm>
            <a:off x="3792985" y="5233471"/>
            <a:ext cx="2236498" cy="291816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</p:spPr>
        <p:txBody>
          <a:bodyPr wrap="square" lIns="36000" tIns="36000" rIns="36000" bIns="36000" rtlCol="0" anchor="ctr" anchorCtr="0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ru-RU" sz="900">
                <a:solidFill>
                  <a:srgbClr val="5B9BD5">
                    <a:lumMod val="50000"/>
                  </a:srgbClr>
                </a:solidFill>
                <a:latin typeface="SB Sans Text"/>
                <a:cs typeface="SB Sans Text"/>
              </a:rPr>
              <a:t>15.04</a:t>
            </a:r>
            <a:endParaRPr/>
          </a:p>
          <a:p>
            <a:pPr>
              <a:lnSpc>
                <a:spcPct val="80000"/>
              </a:lnSpc>
              <a:defRPr/>
            </a:pPr>
            <a:r>
              <a:rPr lang="ru-RU" sz="900">
                <a:solidFill>
                  <a:srgbClr val="5B9BD5">
                    <a:lumMod val="50000"/>
                  </a:srgbClr>
                </a:solidFill>
                <a:latin typeface="SB Sans Text"/>
                <a:cs typeface="SB Sans Text"/>
              </a:rPr>
              <a:t>Расчет топ-1 </a:t>
            </a:r>
            <a:r>
              <a:rPr lang="en-US" sz="900">
                <a:solidFill>
                  <a:srgbClr val="5B9BD5">
                    <a:lumMod val="50000"/>
                  </a:srgbClr>
                </a:solidFill>
                <a:latin typeface="SB Sans Text"/>
                <a:cs typeface="SB Sans Text"/>
              </a:rPr>
              <a:t>legacy-</a:t>
            </a:r>
            <a:r>
              <a:rPr lang="ru-RU" sz="900">
                <a:solidFill>
                  <a:srgbClr val="5B9BD5">
                    <a:lumMod val="50000"/>
                  </a:srgbClr>
                </a:solidFill>
                <a:latin typeface="SB Sans Text"/>
                <a:cs typeface="SB Sans Text"/>
              </a:rPr>
              <a:t>витрин в ПРОМ </a:t>
            </a:r>
            <a:endParaRPr lang="en-US" sz="900">
              <a:solidFill>
                <a:srgbClr val="5B9BD5">
                  <a:lumMod val="50000"/>
                </a:srgbClr>
              </a:solidFill>
              <a:latin typeface="SB Sans Text"/>
              <a:cs typeface="SB Sans Text"/>
            </a:endParaRPr>
          </a:p>
        </p:txBody>
      </p:sp>
      <p:sp>
        <p:nvSpPr>
          <p:cNvPr id="154" name="Ромб 153"/>
          <p:cNvSpPr>
            <a:spLocks noChangeAspect="1"/>
          </p:cNvSpPr>
          <p:nvPr/>
        </p:nvSpPr>
        <p:spPr bwMode="auto">
          <a:xfrm>
            <a:off x="5933675" y="5301647"/>
            <a:ext cx="180000" cy="180000"/>
          </a:xfrm>
          <a:prstGeom prst="diamond">
            <a:avLst/>
          </a:prstGeom>
          <a:solidFill>
            <a:srgbClr val="00B050"/>
          </a:solidFill>
          <a:ln w="1905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500" b="0" i="0" u="none" strike="noStrike" cap="none" spc="0">
              <a:ln>
                <a:noFill/>
              </a:ln>
              <a:solidFill>
                <a:prstClr val="white"/>
              </a:solidFill>
              <a:latin typeface="Calibri Light"/>
              <a:ea typeface="+mn-ea"/>
              <a:cs typeface="+mn-cs"/>
            </a:endParaRPr>
          </a:p>
        </p:txBody>
      </p:sp>
      <p:sp>
        <p:nvSpPr>
          <p:cNvPr id="105" name="TextBox 104"/>
          <p:cNvSpPr txBox="1"/>
          <p:nvPr/>
        </p:nvSpPr>
        <p:spPr bwMode="auto">
          <a:xfrm>
            <a:off x="3765747" y="2646454"/>
            <a:ext cx="1883266" cy="296611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</p:spPr>
        <p:txBody>
          <a:bodyPr wrap="square" lIns="36000" tIns="36000" rIns="36000" bIns="36000" rtlCol="0" anchor="ctr" anchorCtr="0">
            <a:spAutoFit/>
          </a:bodyPr>
          <a:lstStyle>
            <a:defPPr>
              <a:defRPr lang="ru-RU"/>
            </a:defPPr>
            <a:lvl1pPr marR="0" lv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latin typeface="Calibri Light"/>
                <a:cs typeface="Calibri Light"/>
              </a:defRPr>
            </a:lvl1pPr>
          </a:lstStyle>
          <a:p>
            <a:pPr lvl="0">
              <a:defRPr/>
            </a:pPr>
            <a:r>
              <a:rPr lang="ru-RU" sz="900" b="0" dirty="0">
                <a:latin typeface="SB Sans Text"/>
                <a:cs typeface="SB Sans Text"/>
              </a:rPr>
              <a:t>3</a:t>
            </a:r>
            <a:r>
              <a:rPr lang="en-US" sz="900" b="0" dirty="0">
                <a:latin typeface="SB Sans Text"/>
                <a:cs typeface="SB Sans Text"/>
              </a:rPr>
              <a:t>1</a:t>
            </a:r>
            <a:r>
              <a:rPr lang="ru-RU" sz="900" b="0" dirty="0">
                <a:latin typeface="SB Sans Text"/>
                <a:cs typeface="SB Sans Text"/>
              </a:rPr>
              <a:t>.</a:t>
            </a:r>
            <a:r>
              <a:rPr lang="en-US" sz="900" b="0" dirty="0">
                <a:latin typeface="SB Sans Text"/>
                <a:cs typeface="SB Sans Text"/>
              </a:rPr>
              <a:t>03</a:t>
            </a:r>
            <a:r>
              <a:rPr lang="ru-RU" sz="900" b="0" dirty="0">
                <a:latin typeface="SB Sans Text"/>
                <a:cs typeface="SB Sans Text"/>
              </a:rPr>
              <a:t> </a:t>
            </a:r>
            <a:endParaRPr lang="en-US" sz="900" b="0" dirty="0">
              <a:latin typeface="SB Sans Text"/>
              <a:cs typeface="SB Sans Text"/>
            </a:endParaRPr>
          </a:p>
          <a:p>
            <a:pPr lvl="0">
              <a:defRPr/>
            </a:pPr>
            <a:r>
              <a:rPr lang="ru-RU" sz="900" b="0" dirty="0">
                <a:latin typeface="SB Sans Text"/>
                <a:cs typeface="SB Sans Text"/>
              </a:rPr>
              <a:t>Поставка данных для отчета 1</a:t>
            </a:r>
          </a:p>
        </p:txBody>
      </p:sp>
      <p:sp>
        <p:nvSpPr>
          <p:cNvPr id="106" name="Ромб 105"/>
          <p:cNvSpPr>
            <a:spLocks noChangeAspect="1"/>
          </p:cNvSpPr>
          <p:nvPr/>
        </p:nvSpPr>
        <p:spPr bwMode="auto">
          <a:xfrm>
            <a:off x="5570434" y="2730787"/>
            <a:ext cx="180000" cy="180000"/>
          </a:xfrm>
          <a:prstGeom prst="diamond">
            <a:avLst/>
          </a:prstGeom>
          <a:solidFill>
            <a:srgbClr val="00B050"/>
          </a:solidFill>
          <a:ln w="1905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500" b="0" i="0" u="none" strike="noStrike" cap="none" spc="0">
              <a:ln>
                <a:noFill/>
              </a:ln>
              <a:solidFill>
                <a:prstClr val="white"/>
              </a:solidFill>
              <a:latin typeface="Calibri Light"/>
              <a:ea typeface="+mn-ea"/>
              <a:cs typeface="+mn-cs"/>
            </a:endParaRPr>
          </a:p>
        </p:txBody>
      </p:sp>
      <p:sp>
        <p:nvSpPr>
          <p:cNvPr id="95" name="TextBox 94"/>
          <p:cNvSpPr txBox="1"/>
          <p:nvPr/>
        </p:nvSpPr>
        <p:spPr bwMode="auto">
          <a:xfrm>
            <a:off x="3765747" y="836499"/>
            <a:ext cx="1883265" cy="296932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</p:spPr>
        <p:txBody>
          <a:bodyPr wrap="square" lIns="36000" tIns="36000" rIns="36000" bIns="36000" rtlCol="0" anchor="ctr" anchorCtr="0">
            <a:spAutoFit/>
          </a:bodyPr>
          <a:lstStyle>
            <a:defPPr>
              <a:defRPr lang="ru-RU"/>
            </a:defPPr>
            <a:lvl1pPr marR="0" lv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latin typeface="Calibri Light"/>
                <a:cs typeface="Calibri Light"/>
              </a:defRPr>
            </a:lvl1pPr>
          </a:lstStyle>
          <a:p>
            <a:pPr marL="0" marR="0" lvl="0" indent="0" algn="l" defTabSz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900" b="0" i="0" u="none" strike="noStrike" cap="none" spc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latin typeface="+mj-lt"/>
              </a:rPr>
              <a:t>31.03 </a:t>
            </a:r>
            <a:endParaRPr dirty="0"/>
          </a:p>
          <a:p>
            <a:pPr marL="0" marR="0" lvl="0" indent="0" algn="l" defTabSz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900" b="0" i="0" u="none" strike="noStrike" cap="none" spc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latin typeface="+mj-lt"/>
              </a:rPr>
              <a:t>Визуализация с</a:t>
            </a:r>
            <a:r>
              <a:rPr lang="ru-RU" sz="900" b="0" dirty="0">
                <a:latin typeface="+mj-lt"/>
              </a:rPr>
              <a:t>водных таблиц</a:t>
            </a:r>
            <a:endParaRPr dirty="0"/>
          </a:p>
        </p:txBody>
      </p:sp>
      <p:sp>
        <p:nvSpPr>
          <p:cNvPr id="115" name="Пятиугольник 114"/>
          <p:cNvSpPr/>
          <p:nvPr/>
        </p:nvSpPr>
        <p:spPr bwMode="auto">
          <a:xfrm>
            <a:off x="5668052" y="4349556"/>
            <a:ext cx="2062792" cy="288000"/>
          </a:xfrm>
          <a:prstGeom prst="homePlate">
            <a:avLst>
              <a:gd name="adj" fmla="val 20014"/>
            </a:avLst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9835" tIns="36000" rIns="36000" bIns="36000" rtlCol="0" anchor="ctr" anchorCtr="0"/>
          <a:lstStyle/>
          <a:p>
            <a:pPr marL="46038" defTabSz="840072">
              <a:lnSpc>
                <a:spcPct val="80000"/>
              </a:lnSpc>
              <a:defRPr/>
            </a:pPr>
            <a:r>
              <a:rPr lang="ru-RU" sz="1000">
                <a:solidFill>
                  <a:prstClr val="black">
                    <a:lumMod val="75000"/>
                    <a:lumOff val="25000"/>
                  </a:prstClr>
                </a:solidFill>
                <a:latin typeface="+mj-lt"/>
                <a:cs typeface="Calibri Light"/>
              </a:rPr>
              <a:t>Тестирование</a:t>
            </a:r>
            <a:endParaRPr lang="en-US" sz="1000">
              <a:solidFill>
                <a:prstClr val="black">
                  <a:lumMod val="75000"/>
                  <a:lumOff val="25000"/>
                </a:prstClr>
              </a:solidFill>
              <a:latin typeface="+mj-lt"/>
              <a:cs typeface="Calibri Light"/>
            </a:endParaRPr>
          </a:p>
        </p:txBody>
      </p:sp>
      <p:cxnSp>
        <p:nvCxnSpPr>
          <p:cNvPr id="114" name="Скругленная соединительная линия 113"/>
          <p:cNvCxnSpPr>
            <a:cxnSpLocks/>
            <a:stCxn id="89" idx="3"/>
            <a:endCxn id="115" idx="0"/>
          </p:cNvCxnSpPr>
          <p:nvPr/>
        </p:nvCxnSpPr>
        <p:spPr bwMode="auto">
          <a:xfrm>
            <a:off x="5749350" y="999134"/>
            <a:ext cx="921278" cy="3350422"/>
          </a:xfrm>
          <a:prstGeom prst="curvedConnector2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Ромб 123"/>
          <p:cNvSpPr>
            <a:spLocks noChangeAspect="1"/>
          </p:cNvSpPr>
          <p:nvPr/>
        </p:nvSpPr>
        <p:spPr bwMode="auto">
          <a:xfrm>
            <a:off x="7666382" y="4821008"/>
            <a:ext cx="180000" cy="180000"/>
          </a:xfrm>
          <a:prstGeom prst="diamond">
            <a:avLst/>
          </a:prstGeom>
          <a:solidFill>
            <a:srgbClr val="FF0000"/>
          </a:solidFill>
          <a:ln w="1905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500" b="0" i="0" u="none" strike="noStrike" cap="none" spc="0">
              <a:ln>
                <a:noFill/>
              </a:ln>
              <a:solidFill>
                <a:prstClr val="white"/>
              </a:solidFill>
              <a:latin typeface="Calibri Light"/>
              <a:ea typeface="+mn-ea"/>
              <a:cs typeface="+mn-cs"/>
            </a:endParaRPr>
          </a:p>
        </p:txBody>
      </p:sp>
      <p:sp>
        <p:nvSpPr>
          <p:cNvPr id="125" name="Прямоугольник 124"/>
          <p:cNvSpPr/>
          <p:nvPr/>
        </p:nvSpPr>
        <p:spPr bwMode="auto">
          <a:xfrm>
            <a:off x="7896035" y="4701018"/>
            <a:ext cx="1865273" cy="407410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</p:spPr>
        <p:txBody>
          <a:bodyPr wrap="square" lIns="36000" tIns="36000" rIns="36000" bIns="36000" rtlCol="0" anchor="ctr" anchorCtr="0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ru-RU" sz="900" dirty="0">
                <a:solidFill>
                  <a:srgbClr val="5B9BD5">
                    <a:lumMod val="50000"/>
                  </a:srgbClr>
                </a:solidFill>
                <a:latin typeface="SB Sans Text"/>
                <a:cs typeface="SB Sans Text"/>
              </a:rPr>
              <a:t>30.09</a:t>
            </a:r>
            <a:endParaRPr dirty="0"/>
          </a:p>
          <a:p>
            <a:pPr>
              <a:lnSpc>
                <a:spcPct val="80000"/>
              </a:lnSpc>
              <a:defRPr/>
            </a:pPr>
            <a:r>
              <a:rPr lang="ru-RU" sz="900" dirty="0">
                <a:solidFill>
                  <a:srgbClr val="5B9BD5">
                    <a:lumMod val="50000"/>
                  </a:srgbClr>
                </a:solidFill>
                <a:latin typeface="SB Sans Text"/>
                <a:cs typeface="SB Sans Text"/>
              </a:rPr>
              <a:t>Подготовка витрин по 10 отчетам</a:t>
            </a:r>
          </a:p>
        </p:txBody>
      </p:sp>
      <p:sp>
        <p:nvSpPr>
          <p:cNvPr id="126" name="Ромб 125"/>
          <p:cNvSpPr>
            <a:spLocks noChangeAspect="1"/>
          </p:cNvSpPr>
          <p:nvPr/>
        </p:nvSpPr>
        <p:spPr bwMode="auto">
          <a:xfrm>
            <a:off x="9675377" y="4819507"/>
            <a:ext cx="180000" cy="180000"/>
          </a:xfrm>
          <a:prstGeom prst="diamond">
            <a:avLst/>
          </a:prstGeom>
          <a:solidFill>
            <a:sysClr val="window" lastClr="FFFFFF"/>
          </a:solidFill>
          <a:ln w="1905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500" b="0" i="0" u="none" strike="noStrike" cap="none" spc="0">
              <a:ln>
                <a:noFill/>
              </a:ln>
              <a:solidFill>
                <a:prstClr val="white"/>
              </a:solidFill>
              <a:latin typeface="Calibri Light"/>
              <a:ea typeface="+mn-ea"/>
              <a:cs typeface="+mn-cs"/>
            </a:endParaRPr>
          </a:p>
        </p:txBody>
      </p:sp>
      <p:sp>
        <p:nvSpPr>
          <p:cNvPr id="127" name="Прямоугольник 126"/>
          <p:cNvSpPr/>
          <p:nvPr/>
        </p:nvSpPr>
        <p:spPr bwMode="auto">
          <a:xfrm>
            <a:off x="9895207" y="4710019"/>
            <a:ext cx="1859406" cy="407410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</p:spPr>
        <p:txBody>
          <a:bodyPr wrap="square" lIns="36000" tIns="36000" rIns="36000" bIns="36000" rtlCol="0" anchor="ctr" anchorCtr="0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ru-RU" sz="900" dirty="0">
                <a:solidFill>
                  <a:srgbClr val="5B9BD5">
                    <a:lumMod val="50000"/>
                  </a:srgbClr>
                </a:solidFill>
                <a:latin typeface="SB Sans Text"/>
                <a:cs typeface="SB Sans Text"/>
              </a:rPr>
              <a:t>31.07.27</a:t>
            </a:r>
            <a:endParaRPr dirty="0"/>
          </a:p>
          <a:p>
            <a:pPr>
              <a:lnSpc>
                <a:spcPct val="80000"/>
              </a:lnSpc>
              <a:defRPr/>
            </a:pPr>
            <a:r>
              <a:rPr lang="ru-RU" sz="900" dirty="0">
                <a:solidFill>
                  <a:srgbClr val="5B9BD5">
                    <a:lumMod val="50000"/>
                  </a:srgbClr>
                </a:solidFill>
                <a:latin typeface="SB Sans Text"/>
                <a:cs typeface="SB Sans Text"/>
              </a:rPr>
              <a:t>Подготовка витрин по  20 отчетам</a:t>
            </a:r>
          </a:p>
        </p:txBody>
      </p:sp>
      <p:sp>
        <p:nvSpPr>
          <p:cNvPr id="97" name="Ромб 96"/>
          <p:cNvSpPr>
            <a:spLocks noChangeAspect="1"/>
          </p:cNvSpPr>
          <p:nvPr/>
        </p:nvSpPr>
        <p:spPr bwMode="auto">
          <a:xfrm>
            <a:off x="11651828" y="4813345"/>
            <a:ext cx="180000" cy="180000"/>
          </a:xfrm>
          <a:prstGeom prst="diamond">
            <a:avLst/>
          </a:prstGeom>
          <a:solidFill>
            <a:sysClr val="window" lastClr="FFFFFF"/>
          </a:solidFill>
          <a:ln w="1905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500" b="0" i="0" u="none" strike="noStrike" cap="none" spc="0">
              <a:ln>
                <a:noFill/>
              </a:ln>
              <a:solidFill>
                <a:prstClr val="white"/>
              </a:solidFill>
              <a:latin typeface="Calibri Light"/>
              <a:ea typeface="+mn-ea"/>
              <a:cs typeface="+mn-cs"/>
            </a:endParaRPr>
          </a:p>
        </p:txBody>
      </p:sp>
      <p:sp>
        <p:nvSpPr>
          <p:cNvPr id="130" name="Прямоугольник 129"/>
          <p:cNvSpPr/>
          <p:nvPr/>
        </p:nvSpPr>
        <p:spPr bwMode="auto">
          <a:xfrm>
            <a:off x="10421424" y="5229099"/>
            <a:ext cx="1664312" cy="407410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</p:spPr>
        <p:txBody>
          <a:bodyPr wrap="square" lIns="36000" tIns="36000" rIns="36000" bIns="36000" rtlCol="0" anchor="ctr" anchorCtr="0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ru-RU" sz="900" b="0" i="0" u="none" strike="noStrike" cap="none" spc="0" dirty="0">
                <a:solidFill>
                  <a:srgbClr val="5B9BD5">
                    <a:lumMod val="50000"/>
                  </a:srgbClr>
                </a:solidFill>
                <a:latin typeface="SB Sans Text"/>
                <a:ea typeface="SB Sans Text"/>
                <a:cs typeface="SB Sans Text"/>
              </a:rPr>
              <a:t>31.07.27</a:t>
            </a:r>
            <a:endParaRPr dirty="0"/>
          </a:p>
          <a:p>
            <a:pPr>
              <a:lnSpc>
                <a:spcPct val="80000"/>
              </a:lnSpc>
              <a:defRPr/>
            </a:pPr>
            <a:r>
              <a:rPr lang="ru-RU" sz="900" dirty="0">
                <a:solidFill>
                  <a:srgbClr val="5B9BD5">
                    <a:lumMod val="50000"/>
                  </a:srgbClr>
                </a:solidFill>
                <a:latin typeface="SB Sans Text"/>
                <a:cs typeface="SB Sans Text"/>
              </a:rPr>
              <a:t>Разработка 40</a:t>
            </a:r>
            <a:r>
              <a:rPr lang="en-US" sz="900" dirty="0">
                <a:solidFill>
                  <a:srgbClr val="5B9BD5">
                    <a:lumMod val="50000"/>
                  </a:srgbClr>
                </a:solidFill>
                <a:latin typeface="SB Sans Text"/>
                <a:cs typeface="SB Sans Text"/>
              </a:rPr>
              <a:t> </a:t>
            </a:r>
            <a:r>
              <a:rPr lang="ru-RU" sz="900" dirty="0">
                <a:solidFill>
                  <a:srgbClr val="5B9BD5">
                    <a:lumMod val="50000"/>
                  </a:srgbClr>
                </a:solidFill>
                <a:latin typeface="SB Sans Text"/>
                <a:cs typeface="SB Sans Text"/>
              </a:rPr>
              <a:t>отчетов в целевом </a:t>
            </a:r>
            <a:r>
              <a:rPr lang="en-US" sz="900" dirty="0">
                <a:solidFill>
                  <a:srgbClr val="5B9BD5">
                    <a:lumMod val="50000"/>
                  </a:srgbClr>
                </a:solidFill>
                <a:latin typeface="SB Sans Text"/>
                <a:cs typeface="SB Sans Text"/>
              </a:rPr>
              <a:t>BI</a:t>
            </a:r>
            <a:endParaRPr lang="ru-RU" sz="900" dirty="0">
              <a:solidFill>
                <a:srgbClr val="5B9BD5">
                  <a:lumMod val="50000"/>
                </a:srgbClr>
              </a:solidFill>
              <a:latin typeface="SB Sans Text"/>
              <a:cs typeface="SB Sans Text"/>
            </a:endParaRPr>
          </a:p>
        </p:txBody>
      </p:sp>
      <p:sp>
        <p:nvSpPr>
          <p:cNvPr id="131" name="Ромб 130"/>
          <p:cNvSpPr>
            <a:spLocks noChangeAspect="1"/>
          </p:cNvSpPr>
          <p:nvPr/>
        </p:nvSpPr>
        <p:spPr bwMode="auto">
          <a:xfrm>
            <a:off x="11996202" y="5358853"/>
            <a:ext cx="174035" cy="180000"/>
          </a:xfrm>
          <a:prstGeom prst="diamond">
            <a:avLst/>
          </a:prstGeom>
          <a:solidFill>
            <a:sysClr val="window" lastClr="FFFFFF"/>
          </a:solidFill>
          <a:ln w="1905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500" b="0" i="0" u="none" strike="noStrike" cap="none" spc="0">
              <a:ln>
                <a:noFill/>
              </a:ln>
              <a:solidFill>
                <a:prstClr val="white"/>
              </a:solidFill>
              <a:latin typeface="Calibri Light"/>
              <a:ea typeface="+mn-ea"/>
              <a:cs typeface="+mn-cs"/>
            </a:endParaRPr>
          </a:p>
        </p:txBody>
      </p:sp>
      <p:sp>
        <p:nvSpPr>
          <p:cNvPr id="89" name="Ромб 88"/>
          <p:cNvSpPr>
            <a:spLocks noChangeAspect="1"/>
          </p:cNvSpPr>
          <p:nvPr/>
        </p:nvSpPr>
        <p:spPr bwMode="auto">
          <a:xfrm>
            <a:off x="5569350" y="909134"/>
            <a:ext cx="180000" cy="180000"/>
          </a:xfrm>
          <a:prstGeom prst="diamond">
            <a:avLst/>
          </a:prstGeom>
          <a:solidFill>
            <a:srgbClr val="00B050"/>
          </a:solidFill>
          <a:ln w="1905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500" b="0" i="0" u="none" strike="noStrike" cap="none" spc="0">
              <a:ln>
                <a:noFill/>
              </a:ln>
              <a:solidFill>
                <a:prstClr val="white"/>
              </a:solidFill>
              <a:latin typeface="Calibri Light"/>
              <a:ea typeface="+mn-ea"/>
              <a:cs typeface="+mn-cs"/>
            </a:endParaRPr>
          </a:p>
        </p:txBody>
      </p:sp>
      <p:sp>
        <p:nvSpPr>
          <p:cNvPr id="108" name="Прямоугольник 107"/>
          <p:cNvSpPr/>
          <p:nvPr/>
        </p:nvSpPr>
        <p:spPr bwMode="auto">
          <a:xfrm>
            <a:off x="8353875" y="4065278"/>
            <a:ext cx="2043565" cy="407410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</p:spPr>
        <p:txBody>
          <a:bodyPr wrap="square" lIns="36000" tIns="36000" rIns="36000" bIns="36000" rtlCol="0" anchor="ctr" anchorCtr="0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en-US" sz="900" dirty="0">
                <a:solidFill>
                  <a:srgbClr val="5B9BD5">
                    <a:lumMod val="50000"/>
                  </a:srgbClr>
                </a:solidFill>
                <a:latin typeface="SB Sans Text"/>
                <a:cs typeface="SB Sans Text"/>
              </a:rPr>
              <a:t>31.10</a:t>
            </a:r>
            <a:endParaRPr lang="ru-RU" sz="900" dirty="0">
              <a:solidFill>
                <a:srgbClr val="5B9BD5">
                  <a:lumMod val="50000"/>
                </a:srgbClr>
              </a:solidFill>
              <a:latin typeface="SB Sans Text"/>
              <a:cs typeface="SB Sans Text"/>
            </a:endParaRPr>
          </a:p>
          <a:p>
            <a:pPr>
              <a:lnSpc>
                <a:spcPct val="80000"/>
              </a:lnSpc>
              <a:defRPr/>
            </a:pPr>
            <a:r>
              <a:rPr lang="ru-RU" sz="900" dirty="0">
                <a:solidFill>
                  <a:srgbClr val="5B9BD5">
                    <a:lumMod val="50000"/>
                  </a:srgbClr>
                </a:solidFill>
                <a:latin typeface="SB Sans Text"/>
                <a:cs typeface="SB Sans Text"/>
              </a:rPr>
              <a:t>Получить и настроить КТС для целевого </a:t>
            </a:r>
            <a:r>
              <a:rPr lang="en-US" sz="900" dirty="0">
                <a:solidFill>
                  <a:srgbClr val="5B9BD5">
                    <a:lumMod val="50000"/>
                  </a:srgbClr>
                </a:solidFill>
                <a:latin typeface="SB Sans Text"/>
                <a:cs typeface="SB Sans Text"/>
              </a:rPr>
              <a:t>BI</a:t>
            </a:r>
          </a:p>
        </p:txBody>
      </p:sp>
      <p:sp>
        <p:nvSpPr>
          <p:cNvPr id="110" name="Прямоугольник 109"/>
          <p:cNvSpPr/>
          <p:nvPr/>
        </p:nvSpPr>
        <p:spPr bwMode="auto">
          <a:xfrm>
            <a:off x="896744" y="4372648"/>
            <a:ext cx="2035025" cy="407410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</p:spPr>
        <p:txBody>
          <a:bodyPr wrap="square" lIns="36000" tIns="36000" rIns="36000" bIns="36000" rtlCol="0" anchor="ctr" anchorCtr="0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en-US" sz="900" dirty="0">
                <a:solidFill>
                  <a:srgbClr val="5B9BD5">
                    <a:lumMod val="50000"/>
                  </a:srgbClr>
                </a:solidFill>
                <a:latin typeface="SB Sans Text"/>
                <a:cs typeface="SB Sans Text"/>
              </a:rPr>
              <a:t>3</a:t>
            </a:r>
            <a:r>
              <a:rPr lang="ru-RU" sz="900" dirty="0">
                <a:solidFill>
                  <a:srgbClr val="5B9BD5">
                    <a:lumMod val="50000"/>
                  </a:srgbClr>
                </a:solidFill>
                <a:latin typeface="SB Sans Text"/>
                <a:cs typeface="SB Sans Text"/>
              </a:rPr>
              <a:t>0.</a:t>
            </a:r>
            <a:r>
              <a:rPr lang="en-US" sz="900" dirty="0">
                <a:solidFill>
                  <a:srgbClr val="5B9BD5">
                    <a:lumMod val="50000"/>
                  </a:srgbClr>
                </a:solidFill>
                <a:latin typeface="SB Sans Text"/>
                <a:cs typeface="SB Sans Text"/>
              </a:rPr>
              <a:t>1</a:t>
            </a:r>
            <a:r>
              <a:rPr lang="ru-RU" sz="900" dirty="0">
                <a:solidFill>
                  <a:srgbClr val="5B9BD5">
                    <a:lumMod val="50000"/>
                  </a:srgbClr>
                </a:solidFill>
                <a:latin typeface="SB Sans Text"/>
                <a:cs typeface="SB Sans Text"/>
              </a:rPr>
              <a:t>1</a:t>
            </a:r>
            <a:endParaRPr lang="en-US" sz="900" dirty="0">
              <a:solidFill>
                <a:srgbClr val="5B9BD5">
                  <a:lumMod val="50000"/>
                </a:srgbClr>
              </a:solidFill>
              <a:latin typeface="SB Sans Text"/>
              <a:cs typeface="SB Sans Text"/>
            </a:endParaRPr>
          </a:p>
          <a:p>
            <a:pPr>
              <a:lnSpc>
                <a:spcPct val="80000"/>
              </a:lnSpc>
              <a:defRPr/>
            </a:pPr>
            <a:r>
              <a:rPr lang="ru-RU" sz="900" dirty="0">
                <a:solidFill>
                  <a:srgbClr val="5B9BD5">
                    <a:lumMod val="50000"/>
                  </a:srgbClr>
                </a:solidFill>
                <a:latin typeface="SB Sans Text"/>
                <a:cs typeface="SB Sans Text"/>
              </a:rPr>
              <a:t>Утверждение нового инкремента архитектуры</a:t>
            </a:r>
            <a:endParaRPr lang="en-US" sz="900" dirty="0">
              <a:solidFill>
                <a:srgbClr val="5B9BD5">
                  <a:lumMod val="50000"/>
                </a:srgbClr>
              </a:solidFill>
              <a:latin typeface="SB Sans Text"/>
              <a:cs typeface="SB Sans Text"/>
            </a:endParaRPr>
          </a:p>
        </p:txBody>
      </p:sp>
      <p:sp>
        <p:nvSpPr>
          <p:cNvPr id="111" name="Ромб 110"/>
          <p:cNvSpPr>
            <a:spLocks noChangeAspect="1"/>
          </p:cNvSpPr>
          <p:nvPr/>
        </p:nvSpPr>
        <p:spPr bwMode="auto">
          <a:xfrm>
            <a:off x="2857307" y="4489452"/>
            <a:ext cx="180000" cy="180000"/>
          </a:xfrm>
          <a:prstGeom prst="diamond">
            <a:avLst/>
          </a:prstGeom>
          <a:solidFill>
            <a:srgbClr val="00B050"/>
          </a:solidFill>
          <a:ln w="1905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ru-RU" sz="1500">
              <a:solidFill>
                <a:prstClr val="white"/>
              </a:solidFill>
              <a:latin typeface="Calibri Light"/>
            </a:endParaRPr>
          </a:p>
        </p:txBody>
      </p:sp>
      <p:sp>
        <p:nvSpPr>
          <p:cNvPr id="117" name="Прямоугольник 116"/>
          <p:cNvSpPr/>
          <p:nvPr/>
        </p:nvSpPr>
        <p:spPr bwMode="auto">
          <a:xfrm>
            <a:off x="903233" y="6009552"/>
            <a:ext cx="712424" cy="374324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</p:spPr>
        <p:txBody>
          <a:bodyPr wrap="square" lIns="36000" tIns="36000" rIns="36000" bIns="36000" rtlCol="0" anchor="ctr" anchorCtr="0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en-US" sz="800" dirty="0">
                <a:solidFill>
                  <a:srgbClr val="5B9BD5">
                    <a:lumMod val="50000"/>
                  </a:srgbClr>
                </a:solidFill>
                <a:latin typeface="SB Sans Text"/>
                <a:cs typeface="SB Sans Text"/>
              </a:rPr>
              <a:t>30</a:t>
            </a:r>
            <a:r>
              <a:rPr lang="ru-RU" sz="800" dirty="0">
                <a:solidFill>
                  <a:srgbClr val="5B9BD5">
                    <a:lumMod val="50000"/>
                  </a:srgbClr>
                </a:solidFill>
                <a:latin typeface="SB Sans Text"/>
                <a:cs typeface="SB Sans Text"/>
              </a:rPr>
              <a:t>.</a:t>
            </a:r>
            <a:r>
              <a:rPr lang="en-US" sz="800" dirty="0">
                <a:solidFill>
                  <a:srgbClr val="5B9BD5">
                    <a:lumMod val="50000"/>
                  </a:srgbClr>
                </a:solidFill>
                <a:latin typeface="SB Sans Text"/>
                <a:cs typeface="SB Sans Text"/>
              </a:rPr>
              <a:t>09</a:t>
            </a:r>
            <a:endParaRPr lang="ru-RU" sz="800" dirty="0">
              <a:solidFill>
                <a:srgbClr val="5B9BD5">
                  <a:lumMod val="50000"/>
                </a:srgbClr>
              </a:solidFill>
              <a:latin typeface="SB Sans Text"/>
              <a:cs typeface="SB Sans Text"/>
            </a:endParaRPr>
          </a:p>
          <a:p>
            <a:pPr>
              <a:lnSpc>
                <a:spcPct val="80000"/>
              </a:lnSpc>
              <a:defRPr/>
            </a:pPr>
            <a:r>
              <a:rPr lang="ru-RU" sz="800" dirty="0">
                <a:solidFill>
                  <a:srgbClr val="5B9BD5">
                    <a:lumMod val="50000"/>
                  </a:srgbClr>
                </a:solidFill>
                <a:latin typeface="SB Sans Text"/>
                <a:cs typeface="SB Sans Text"/>
              </a:rPr>
              <a:t>Отказ от</a:t>
            </a:r>
            <a:r>
              <a:rPr lang="en-US" sz="800" dirty="0">
                <a:solidFill>
                  <a:srgbClr val="5B9BD5">
                    <a:lumMod val="50000"/>
                  </a:srgbClr>
                </a:solidFill>
                <a:latin typeface="SB Sans Text"/>
                <a:cs typeface="SB Sans Text"/>
              </a:rPr>
              <a:t> 4 </a:t>
            </a:r>
            <a:r>
              <a:rPr lang="ru-RU" sz="800" dirty="0">
                <a:solidFill>
                  <a:srgbClr val="5B9BD5">
                    <a:lumMod val="50000"/>
                  </a:srgbClr>
                </a:solidFill>
                <a:latin typeface="SB Sans Text"/>
                <a:cs typeface="SB Sans Text"/>
              </a:rPr>
              <a:t>серверов</a:t>
            </a:r>
            <a:endParaRPr dirty="0"/>
          </a:p>
        </p:txBody>
      </p:sp>
      <p:sp>
        <p:nvSpPr>
          <p:cNvPr id="118" name="Ромб 117"/>
          <p:cNvSpPr>
            <a:spLocks noChangeAspect="1"/>
          </p:cNvSpPr>
          <p:nvPr/>
        </p:nvSpPr>
        <p:spPr bwMode="auto">
          <a:xfrm>
            <a:off x="1525357" y="6105976"/>
            <a:ext cx="180000" cy="180000"/>
          </a:xfrm>
          <a:prstGeom prst="diamond">
            <a:avLst/>
          </a:prstGeom>
          <a:solidFill>
            <a:srgbClr val="00B050"/>
          </a:solidFill>
          <a:ln w="1905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500" b="0" i="0" u="none" strike="noStrike" cap="none" spc="0">
              <a:ln>
                <a:noFill/>
              </a:ln>
              <a:solidFill>
                <a:prstClr val="white"/>
              </a:solidFill>
              <a:latin typeface="Calibri Light"/>
              <a:ea typeface="+mn-ea"/>
              <a:cs typeface="+mn-cs"/>
            </a:endParaRPr>
          </a:p>
        </p:txBody>
      </p:sp>
      <p:sp>
        <p:nvSpPr>
          <p:cNvPr id="119" name="Прямоугольник 118"/>
          <p:cNvSpPr/>
          <p:nvPr/>
        </p:nvSpPr>
        <p:spPr bwMode="auto">
          <a:xfrm>
            <a:off x="1722539" y="6039614"/>
            <a:ext cx="1879409" cy="296611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</p:spPr>
        <p:txBody>
          <a:bodyPr wrap="square" lIns="36000" tIns="36000" rIns="36000" bIns="36000" rtlCol="0" anchor="ctr" anchorCtr="0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en-US" sz="900" dirty="0">
                <a:solidFill>
                  <a:srgbClr val="5B9BD5">
                    <a:lumMod val="50000"/>
                  </a:srgbClr>
                </a:solidFill>
                <a:latin typeface="SB Sans Text"/>
                <a:cs typeface="SB Sans Text"/>
              </a:rPr>
              <a:t>3</a:t>
            </a:r>
            <a:r>
              <a:rPr lang="ru-RU" sz="900" dirty="0">
                <a:solidFill>
                  <a:srgbClr val="5B9BD5">
                    <a:lumMod val="50000"/>
                  </a:srgbClr>
                </a:solidFill>
                <a:latin typeface="SB Sans Text"/>
                <a:cs typeface="SB Sans Text"/>
              </a:rPr>
              <a:t>1.12</a:t>
            </a:r>
            <a:endParaRPr dirty="0"/>
          </a:p>
          <a:p>
            <a:pPr>
              <a:lnSpc>
                <a:spcPct val="80000"/>
              </a:lnSpc>
              <a:defRPr/>
            </a:pPr>
            <a:r>
              <a:rPr lang="ru-RU" sz="900" dirty="0">
                <a:solidFill>
                  <a:srgbClr val="5B9BD5">
                    <a:lumMod val="50000"/>
                  </a:srgbClr>
                </a:solidFill>
                <a:latin typeface="SB Sans Text"/>
                <a:cs typeface="SB Sans Text"/>
              </a:rPr>
              <a:t>Отказ от </a:t>
            </a:r>
            <a:r>
              <a:rPr lang="en-US" sz="900" dirty="0">
                <a:solidFill>
                  <a:srgbClr val="5B9BD5">
                    <a:lumMod val="50000"/>
                  </a:srgbClr>
                </a:solidFill>
                <a:latin typeface="SB Sans Text"/>
                <a:cs typeface="SB Sans Text"/>
              </a:rPr>
              <a:t>2 </a:t>
            </a:r>
            <a:r>
              <a:rPr lang="ru-RU" sz="900" dirty="0">
                <a:solidFill>
                  <a:srgbClr val="5B9BD5">
                    <a:lumMod val="50000"/>
                  </a:srgbClr>
                </a:solidFill>
                <a:latin typeface="SB Sans Text"/>
                <a:cs typeface="SB Sans Text"/>
              </a:rPr>
              <a:t>серверов</a:t>
            </a:r>
            <a:endParaRPr lang="en-US" sz="900" dirty="0">
              <a:solidFill>
                <a:srgbClr val="5B9BD5">
                  <a:lumMod val="50000"/>
                </a:srgbClr>
              </a:solidFill>
              <a:latin typeface="SB Sans Text"/>
              <a:cs typeface="SB Sans Text"/>
            </a:endParaRPr>
          </a:p>
        </p:txBody>
      </p:sp>
      <p:sp>
        <p:nvSpPr>
          <p:cNvPr id="134" name="Прямоугольник 133"/>
          <p:cNvSpPr/>
          <p:nvPr/>
        </p:nvSpPr>
        <p:spPr bwMode="auto">
          <a:xfrm>
            <a:off x="10234628" y="6052976"/>
            <a:ext cx="1852190" cy="296611"/>
          </a:xfrm>
          <a:prstGeom prst="rect">
            <a:avLst/>
          </a:prstGeom>
          <a:solidFill>
            <a:srgbClr val="5B9BD5">
              <a:lumMod val="20000"/>
              <a:lumOff val="80000"/>
            </a:srgbClr>
          </a:solidFill>
        </p:spPr>
        <p:txBody>
          <a:bodyPr wrap="square" lIns="36000" tIns="36000" rIns="36000" bIns="36000" rtlCol="0" anchor="ctr" anchorCtr="0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ru-RU" sz="900" b="0" i="0" u="none" strike="noStrike" cap="none" spc="0" dirty="0">
                <a:solidFill>
                  <a:srgbClr val="5B9BD5">
                    <a:lumMod val="50000"/>
                  </a:srgbClr>
                </a:solidFill>
                <a:latin typeface="SB Sans Text"/>
                <a:ea typeface="SB Sans Text"/>
                <a:cs typeface="SB Sans Text"/>
              </a:rPr>
              <a:t>31.09.27</a:t>
            </a:r>
            <a:endParaRPr lang="ru-RU" sz="900" dirty="0">
              <a:solidFill>
                <a:srgbClr val="5B9BD5">
                  <a:lumMod val="50000"/>
                </a:srgbClr>
              </a:solidFill>
              <a:latin typeface="SB Sans Text"/>
              <a:cs typeface="SB Sans Text"/>
            </a:endParaRPr>
          </a:p>
          <a:p>
            <a:pPr>
              <a:lnSpc>
                <a:spcPct val="80000"/>
              </a:lnSpc>
              <a:defRPr/>
            </a:pPr>
            <a:r>
              <a:rPr lang="ru-RU" sz="900" dirty="0">
                <a:solidFill>
                  <a:srgbClr val="5B9BD5">
                    <a:lumMod val="50000"/>
                  </a:srgbClr>
                </a:solidFill>
                <a:latin typeface="SB Sans Text"/>
                <a:cs typeface="SB Sans Text"/>
              </a:rPr>
              <a:t>Отказ от </a:t>
            </a:r>
            <a:r>
              <a:rPr lang="en-US" sz="900" dirty="0">
                <a:solidFill>
                  <a:srgbClr val="5B9BD5">
                    <a:lumMod val="50000"/>
                  </a:srgbClr>
                </a:solidFill>
                <a:latin typeface="SB Sans Text"/>
                <a:cs typeface="SB Sans Text"/>
              </a:rPr>
              <a:t>13 </a:t>
            </a:r>
            <a:r>
              <a:rPr lang="ru-RU" sz="900" dirty="0">
                <a:solidFill>
                  <a:srgbClr val="5B9BD5">
                    <a:lumMod val="50000"/>
                  </a:srgbClr>
                </a:solidFill>
                <a:latin typeface="SB Sans Text"/>
                <a:cs typeface="SB Sans Text"/>
              </a:rPr>
              <a:t>серверов</a:t>
            </a:r>
            <a:endParaRPr lang="en-US" sz="900" dirty="0">
              <a:solidFill>
                <a:srgbClr val="5B9BD5">
                  <a:lumMod val="50000"/>
                </a:srgbClr>
              </a:solidFill>
              <a:latin typeface="SB Sans Text"/>
              <a:cs typeface="SB Sans Text"/>
            </a:endParaRPr>
          </a:p>
        </p:txBody>
      </p:sp>
      <p:sp>
        <p:nvSpPr>
          <p:cNvPr id="135" name="Ромб 134"/>
          <p:cNvSpPr>
            <a:spLocks noChangeAspect="1"/>
          </p:cNvSpPr>
          <p:nvPr/>
        </p:nvSpPr>
        <p:spPr bwMode="auto">
          <a:xfrm>
            <a:off x="12004531" y="6038046"/>
            <a:ext cx="180000" cy="180000"/>
          </a:xfrm>
          <a:prstGeom prst="diamond">
            <a:avLst/>
          </a:prstGeom>
          <a:solidFill>
            <a:sysClr val="window" lastClr="FFFFFF"/>
          </a:solidFill>
          <a:ln w="1905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500" b="0" i="0" u="none" strike="noStrike" cap="none" spc="0">
              <a:ln>
                <a:noFill/>
              </a:ln>
              <a:solidFill>
                <a:prstClr val="white"/>
              </a:solidFill>
              <a:latin typeface="Calibri Light"/>
              <a:ea typeface="+mn-ea"/>
              <a:cs typeface="+mn-cs"/>
            </a:endParaRPr>
          </a:p>
        </p:txBody>
      </p:sp>
      <p:cxnSp>
        <p:nvCxnSpPr>
          <p:cNvPr id="141" name="Скругленная соединительная линия 140"/>
          <p:cNvCxnSpPr>
            <a:cxnSpLocks/>
            <a:stCxn id="97" idx="2"/>
            <a:endCxn id="131" idx="0"/>
          </p:cNvCxnSpPr>
          <p:nvPr/>
        </p:nvCxnSpPr>
        <p:spPr bwMode="auto">
          <a:xfrm rot="5399976" flipV="1">
            <a:off x="11729769" y="5005403"/>
            <a:ext cx="365508" cy="341391"/>
          </a:xfrm>
          <a:prstGeom prst="curvedConnector3">
            <a:avLst>
              <a:gd name="adj1" fmla="val 50000"/>
            </a:avLst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Скругленная соединительная линия 143"/>
          <p:cNvCxnSpPr>
            <a:cxnSpLocks/>
            <a:stCxn id="131" idx="2"/>
            <a:endCxn id="135" idx="0"/>
          </p:cNvCxnSpPr>
          <p:nvPr/>
        </p:nvCxnSpPr>
        <p:spPr bwMode="auto">
          <a:xfrm rot="5399976" flipV="1">
            <a:off x="11839278" y="5788450"/>
            <a:ext cx="499192" cy="0"/>
          </a:xfrm>
          <a:prstGeom prst="curvedConnector3">
            <a:avLst>
              <a:gd name="adj1" fmla="val 50000"/>
            </a:avLst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Ромб 137"/>
          <p:cNvSpPr>
            <a:spLocks noChangeAspect="1"/>
          </p:cNvSpPr>
          <p:nvPr/>
        </p:nvSpPr>
        <p:spPr bwMode="auto">
          <a:xfrm>
            <a:off x="3522978" y="6095616"/>
            <a:ext cx="180000" cy="180000"/>
          </a:xfrm>
          <a:prstGeom prst="diamond">
            <a:avLst/>
          </a:prstGeom>
          <a:solidFill>
            <a:srgbClr val="00B050"/>
          </a:solidFill>
          <a:ln w="1905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500" b="0" i="0" u="none" strike="noStrike" cap="none" spc="0">
              <a:ln>
                <a:noFill/>
              </a:ln>
              <a:solidFill>
                <a:prstClr val="white"/>
              </a:solidFill>
              <a:latin typeface="Calibri Light"/>
              <a:ea typeface="+mn-ea"/>
              <a:cs typeface="+mn-cs"/>
            </a:endParaRPr>
          </a:p>
        </p:txBody>
      </p:sp>
      <p:cxnSp>
        <p:nvCxnSpPr>
          <p:cNvPr id="113" name="Скругленная соединительная линия 112"/>
          <p:cNvCxnSpPr>
            <a:cxnSpLocks/>
            <a:stCxn id="111" idx="0"/>
          </p:cNvCxnSpPr>
          <p:nvPr/>
        </p:nvCxnSpPr>
        <p:spPr bwMode="auto">
          <a:xfrm rot="16199969">
            <a:off x="5573155" y="1622323"/>
            <a:ext cx="241279" cy="5492976"/>
          </a:xfrm>
          <a:prstGeom prst="curvedConnector2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735994" name="TextBox 86"/>
          <p:cNvSpPr txBox="1"/>
          <p:nvPr/>
        </p:nvSpPr>
        <p:spPr bwMode="auto">
          <a:xfrm>
            <a:off x="3699204" y="6246411"/>
            <a:ext cx="1912963" cy="296611"/>
          </a:xfrm>
          <a:prstGeom prst="rect">
            <a:avLst/>
          </a:prstGeom>
          <a:solidFill>
            <a:schemeClr val="accent2">
              <a:lumMod val="90000"/>
            </a:schemeClr>
          </a:solidFill>
        </p:spPr>
        <p:txBody>
          <a:bodyPr wrap="square" lIns="36000" tIns="36000" rIns="36000" bIns="36000" rtlCol="0" anchor="ctr" anchorCtr="0">
            <a:spAutoFit/>
          </a:bodyPr>
          <a:lstStyle>
            <a:defPPr>
              <a:defRPr lang="ru-RU"/>
            </a:defPPr>
            <a:lvl1pPr marR="0" lv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latin typeface="Calibri Light"/>
                <a:cs typeface="Calibri Light"/>
              </a:defRPr>
            </a:lvl1pPr>
          </a:lstStyle>
          <a:p>
            <a:pPr lvl="0">
              <a:defRPr/>
            </a:pPr>
            <a:r>
              <a:rPr lang="ru-RU" sz="900" b="0">
                <a:latin typeface="SB Sans Text"/>
                <a:cs typeface="SB Sans Text"/>
              </a:rPr>
              <a:t>Настройка разделением </a:t>
            </a:r>
            <a:r>
              <a:rPr lang="ru-RU" sz="900" b="0" dirty="0">
                <a:latin typeface="SB Sans Text"/>
                <a:cs typeface="SB Sans Text"/>
              </a:rPr>
              <a:t>данных</a:t>
            </a:r>
          </a:p>
        </p:txBody>
      </p:sp>
      <p:sp>
        <p:nvSpPr>
          <p:cNvPr id="229738900" name="TextBox 86"/>
          <p:cNvSpPr txBox="1"/>
          <p:nvPr/>
        </p:nvSpPr>
        <p:spPr bwMode="auto">
          <a:xfrm>
            <a:off x="5641119" y="6189901"/>
            <a:ext cx="1979158" cy="401544"/>
          </a:xfrm>
          <a:prstGeom prst="rect">
            <a:avLst/>
          </a:prstGeom>
          <a:solidFill>
            <a:schemeClr val="accent2">
              <a:lumMod val="90000"/>
            </a:schemeClr>
          </a:solidFill>
        </p:spPr>
        <p:txBody>
          <a:bodyPr wrap="square" lIns="36000" tIns="36000" rIns="36000" bIns="36000" rtlCol="0" anchor="ctr" anchorCtr="0">
            <a:spAutoFit/>
          </a:bodyPr>
          <a:lstStyle>
            <a:defPPr>
              <a:defRPr lang="ru-RU"/>
            </a:defPPr>
            <a:lvl1pPr marR="0" lv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latin typeface="Calibri Light"/>
                <a:cs typeface="Calibri Light"/>
              </a:defRPr>
            </a:lvl1pPr>
          </a:lstStyle>
          <a:p>
            <a:pPr lvl="0">
              <a:defRPr/>
            </a:pPr>
            <a:r>
              <a:rPr lang="ru-RU" sz="900" b="0">
                <a:latin typeface="SB Sans Text"/>
                <a:cs typeface="SB Sans Text"/>
              </a:rPr>
              <a:t>Публикация отдельных </a:t>
            </a:r>
          </a:p>
          <a:p>
            <a:pPr lvl="0">
              <a:defRPr/>
            </a:pPr>
            <a:r>
              <a:rPr lang="ru-RU" sz="900" b="0">
                <a:latin typeface="SB Sans Text"/>
                <a:cs typeface="SB Sans Text"/>
              </a:rPr>
              <a:t>Дата-продуктов в </a:t>
            </a:r>
          </a:p>
          <a:p>
            <a:pPr lvl="0">
              <a:defRPr/>
            </a:pPr>
            <a:r>
              <a:rPr lang="ru-RU" sz="900" b="0">
                <a:latin typeface="SB Sans Text"/>
                <a:cs typeface="SB Sans Text"/>
              </a:rPr>
              <a:t>Супермаркете данных</a:t>
            </a:r>
          </a:p>
        </p:txBody>
      </p:sp>
      <p:sp>
        <p:nvSpPr>
          <p:cNvPr id="343222032" name="TextBox 86"/>
          <p:cNvSpPr txBox="1"/>
          <p:nvPr/>
        </p:nvSpPr>
        <p:spPr bwMode="auto">
          <a:xfrm>
            <a:off x="5659346" y="5484975"/>
            <a:ext cx="766198" cy="621000"/>
          </a:xfrm>
          <a:prstGeom prst="rect">
            <a:avLst/>
          </a:prstGeom>
          <a:solidFill>
            <a:schemeClr val="accent2">
              <a:lumMod val="90000"/>
            </a:schemeClr>
          </a:solidFill>
        </p:spPr>
        <p:txBody>
          <a:bodyPr wrap="square" lIns="36000" tIns="36000" rIns="36000" bIns="36000" rtlCol="0" anchor="ctr" anchorCtr="0">
            <a:spAutoFit/>
          </a:bodyPr>
          <a:lstStyle>
            <a:defPPr>
              <a:defRPr lang="ru-RU"/>
            </a:defPPr>
            <a:lvl1pPr marR="0" lvl="0" inden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 b="1" i="0" u="none" strike="noStrike" cap="none" spc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latin typeface="Calibri Light"/>
                <a:cs typeface="Calibri Light"/>
              </a:defRPr>
            </a:lvl1pPr>
          </a:lstStyle>
          <a:p>
            <a:pPr lvl="0">
              <a:defRPr/>
            </a:pPr>
            <a:r>
              <a:rPr lang="ru-RU" sz="900" b="0">
                <a:latin typeface="SB Sans Text"/>
                <a:cs typeface="SB Sans Text"/>
              </a:rPr>
              <a:t>Завершен пилот на ограниченном кол-ве заказчиков </a:t>
            </a:r>
          </a:p>
        </p:txBody>
      </p:sp>
      <p:cxnSp>
        <p:nvCxnSpPr>
          <p:cNvPr id="1162324136" name="Скругленная соединительная линия 113"/>
          <p:cNvCxnSpPr>
            <a:cxnSpLocks/>
            <a:stCxn id="106" idx="2"/>
            <a:endCxn id="93" idx="1"/>
          </p:cNvCxnSpPr>
          <p:nvPr/>
        </p:nvCxnSpPr>
        <p:spPr bwMode="auto">
          <a:xfrm rot="5400000">
            <a:off x="3684091" y="2985020"/>
            <a:ext cx="2050576" cy="1902110"/>
          </a:xfrm>
          <a:prstGeom prst="curvedConnector4">
            <a:avLst>
              <a:gd name="adj1" fmla="val 43682"/>
              <a:gd name="adj2" fmla="val 112018"/>
            </a:avLst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Ромб 2">
            <a:extLst>
              <a:ext uri="{FF2B5EF4-FFF2-40B4-BE49-F238E27FC236}">
                <a16:creationId xmlns:a16="http://schemas.microsoft.com/office/drawing/2014/main" id="{C6456CCE-F5A4-DF47-0A41-6561524CECF3}"/>
              </a:ext>
            </a:extLst>
          </p:cNvPr>
          <p:cNvSpPr>
            <a:spLocks noChangeAspect="1"/>
          </p:cNvSpPr>
          <p:nvPr/>
        </p:nvSpPr>
        <p:spPr bwMode="auto">
          <a:xfrm>
            <a:off x="7620070" y="4420441"/>
            <a:ext cx="180000" cy="180000"/>
          </a:xfrm>
          <a:prstGeom prst="diamond">
            <a:avLst/>
          </a:prstGeom>
          <a:solidFill>
            <a:srgbClr val="00B050"/>
          </a:solidFill>
          <a:ln w="19050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500" b="0" i="0" u="none" strike="noStrike" cap="none" spc="0">
              <a:ln>
                <a:noFill/>
              </a:ln>
              <a:solidFill>
                <a:prstClr val="white"/>
              </a:solidFill>
              <a:latin typeface="Calibri Ligh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Тема Office">
  <a:themeElements>
    <a:clrScheme name="Вендор">
      <a:dk1>
        <a:srgbClr val="3F3F3F"/>
      </a:dk1>
      <a:lt1>
        <a:sysClr val="window" lastClr="FFFFFF"/>
      </a:lt1>
      <a:dk2>
        <a:srgbClr val="262626"/>
      </a:dk2>
      <a:lt2>
        <a:srgbClr val="FFFFFF"/>
      </a:lt2>
      <a:accent1>
        <a:srgbClr val="009999"/>
      </a:accent1>
      <a:accent2>
        <a:srgbClr val="99FFCC"/>
      </a:accent2>
      <a:accent3>
        <a:srgbClr val="9085F1"/>
      </a:accent3>
      <a:accent4>
        <a:srgbClr val="320D7B"/>
      </a:accent4>
      <a:accent5>
        <a:srgbClr val="FF6A19"/>
      </a:accent5>
      <a:accent6>
        <a:srgbClr val="FF9E43"/>
      </a:accent6>
      <a:hlink>
        <a:srgbClr val="0563C1"/>
      </a:hlink>
      <a:folHlink>
        <a:srgbClr val="954F72"/>
      </a:folHlink>
    </a:clrScheme>
    <a:fontScheme name="Другая 1">
      <a:majorFont>
        <a:latin typeface="SB Sans Text"/>
        <a:ea typeface="Arial"/>
        <a:cs typeface="Arial"/>
      </a:majorFont>
      <a:minorFont>
        <a:latin typeface="SB Sans Display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188</Words>
  <Application>Microsoft Macintosh PowerPoint</Application>
  <DocSecurity>0</DocSecurity>
  <PresentationFormat>Широкоэкранный</PresentationFormat>
  <Paragraphs>62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9" baseType="lpstr">
      <vt:lpstr>Arial</vt:lpstr>
      <vt:lpstr>Calibri</vt:lpstr>
      <vt:lpstr>Calibri Light</vt:lpstr>
      <vt:lpstr>SB Sans Display</vt:lpstr>
      <vt:lpstr>SB Sans Display Semibold</vt:lpstr>
      <vt:lpstr>SB Sans Text</vt:lpstr>
      <vt:lpstr>SB Sans Text Cond</vt:lpstr>
      <vt:lpstr>1_Тема Office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Жарова Алина Олеговна</dc:creator>
  <cp:keywords/>
  <dc:description/>
  <cp:lastModifiedBy>Жарова Алина Олеговна</cp:lastModifiedBy>
  <cp:revision>78</cp:revision>
  <dcterms:created xsi:type="dcterms:W3CDTF">2025-07-28T13:46:46Z</dcterms:created>
  <dcterms:modified xsi:type="dcterms:W3CDTF">2026-07-15T10:25:50Z</dcterms:modified>
  <cp:category/>
  <dc:identifier/>
  <cp:contentStatus/>
  <dc:language/>
  <cp:version/>
</cp:coreProperties>
</file>