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106424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/>
              <a:t>Эталонная дорожная карта программы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11064240" cy="228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/>
              <a:t>Миграция с Qlik на BI-систему собственной разработки
Построено на 3 проектах / 77 уникальных работ
Методическая основа: PMI PMBOK 7 + ICB4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/>
              <a:t>Сводка по программе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/>
              <a:t>Программа: Миграция с Qlik на BI-систему собственной разработки</a:t>
            </a:r>
          </a:p>
          <a:p>
            <a:pPr algn="l"/>
            <a:r>
              <a:rPr sz="1300"/>
              <a:t>Количество проектов-источников: 3</a:t>
            </a:r>
          </a:p>
          <a:p>
            <a:pPr algn="l"/>
            <a:r>
              <a:rPr sz="1300"/>
              <a:t>Извлечено уникальных работ: 77</a:t>
            </a:r>
          </a:p>
          <a:p>
            <a:pPr algn="l"/>
            <a:r>
              <a:rPr sz="1300"/>
              <a:t>Распределение по фазам PMI PMBOK 7:</a:t>
            </a:r>
          </a:p>
          <a:p>
            <a:pPr algn="l"/>
            <a:r>
              <a:rPr sz="1300"/>
              <a:t>  - Инициирование: 9 работ</a:t>
            </a:r>
          </a:p>
          <a:p>
            <a:pPr algn="l"/>
            <a:r>
              <a:rPr sz="1400"/>
              <a:t>  - Планирование: 6 работ</a:t>
            </a:r>
          </a:p>
          <a:p>
            <a:pPr algn="l"/>
            <a:r>
              <a:rPr sz="1400"/>
              <a:t>  - Исполнение: 49 работ</a:t>
            </a:r>
          </a:p>
          <a:p>
            <a:pPr algn="l"/>
            <a:r>
              <a:rPr sz="1300"/>
              <a:t>  - Контроль и тестирование: 6 работ</a:t>
            </a:r>
          </a:p>
          <a:p>
            <a:pPr algn="l"/>
            <a:r>
              <a:rPr sz="1200"/>
              <a:t>  - Завершение и ввод в эксплуатацию: 7 работ</a:t>
            </a:r>
          </a:p>
          <a:p>
            <a:pPr algn="l"/>
            <a:r>
              <a:rPr sz="1400"/>
              <a:t/>
            </a:r>
          </a:p>
          <a:p>
            <a:pPr algn="l"/>
            <a:r>
              <a:rPr sz="1300"/>
              <a:t>Рекомендации по применению шаблона:</a:t>
            </a:r>
          </a:p>
          <a:p>
            <a:pPr algn="l"/>
            <a:r>
              <a:rPr sz="1100"/>
              <a:t>  - Для нового проекта той же программы - взять фазы как структурный шаблон</a:t>
            </a:r>
          </a:p>
          <a:p>
            <a:pPr algn="l"/>
            <a:r>
              <a:rPr sz="1100"/>
              <a:t>  - WBS - из работ внутри релевантной фазы; не выходить за её пределы без stage-gate</a:t>
            </a:r>
          </a:p>
          <a:p>
            <a:pPr algn="l"/>
            <a:r>
              <a:rPr sz="1300"/>
              <a:t>  - Stage-gates выставлять между фазами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/>
              <a:t>WBS: работы по фазам PMI PMBOK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/>
              <a:t>Инициирование:</a:t>
            </a:r>
          </a:p>
          <a:p>
            <a:pPr algn="l"/>
            <a:r>
              <a:rPr sz="1100"/>
              <a:t>  - Ревизия текущих отчетов</a:t>
            </a:r>
          </a:p>
          <a:p>
            <a:pPr algn="l"/>
            <a:r>
              <a:rPr sz="1100"/>
              <a:t>  - Создание ролевой модели</a:t>
            </a:r>
          </a:p>
          <a:p>
            <a:pPr algn="l"/>
            <a:r>
              <a:rPr sz="1000"/>
              <a:t>  - Получение доступов разработчиков отчётов</a:t>
            </a:r>
          </a:p>
          <a:p>
            <a:pPr algn="l"/>
            <a:r>
              <a:rPr sz="900"/>
              <a:t>  - Получение доступов бизнес-приёмки (владельцев) и ит-сопровождения</a:t>
            </a:r>
          </a:p>
          <a:p>
            <a:pPr algn="l"/>
            <a:r>
              <a:rPr sz="1100"/>
              <a:t>  - Получение доступов пользователей</a:t>
            </a:r>
          </a:p>
          <a:p>
            <a:pPr algn="l"/>
            <a:r>
              <a:rPr sz="900"/>
              <a:t>  - А) Получение опыта разработчиков, администраторов, поддержки, бизнес-владельцев,</a:t>
            </a:r>
          </a:p>
          <a:p>
            <a:pPr algn="l"/>
            <a:r>
              <a:rPr sz="1100"/>
              <a:t>  - Пилот проектов self-service</a:t>
            </a:r>
          </a:p>
          <a:p>
            <a:pPr algn="l"/>
            <a:r>
              <a:rPr sz="1100"/>
              <a:t>  - Анализ новых источников данных</a:t>
            </a:r>
          </a:p>
          <a:p>
            <a:pPr algn="l"/>
            <a:r>
              <a:rPr sz="1000"/>
              <a:t>  - Завершен пилот на ограниченном кол-ве заказчиков</a:t>
            </a:r>
          </a:p>
          <a:p>
            <a:pPr algn="l"/>
            <a:r>
              <a:rPr sz="1200"/>
              <a:t/>
            </a:r>
          </a:p>
          <a:p>
            <a:pPr algn="l"/>
            <a:r>
              <a:rPr sz="1200"/>
              <a:t>Планирование:</a:t>
            </a:r>
          </a:p>
          <a:p>
            <a:pPr algn="l"/>
            <a:r>
              <a:rPr sz="1100"/>
              <a:t>  - Разработка архитектуры и процессов</a:t>
            </a:r>
          </a:p>
          <a:p>
            <a:pPr algn="l"/>
            <a:r>
              <a:rPr sz="1100"/>
              <a:t>  - Архитектура и инфраструктура</a:t>
            </a:r>
          </a:p>
          <a:p>
            <a:pPr algn="l"/>
            <a:r>
              <a:rPr sz="900"/>
              <a:t>  - Синхронизация планов миграции дашбордов и источников с планами инсталляции</a:t>
            </a:r>
          </a:p>
          <a:p>
            <a:pPr algn="l"/>
            <a:r>
              <a:rPr sz="1100"/>
              <a:t>  - Разработка редактора витрин</a:t>
            </a:r>
          </a:p>
          <a:p>
            <a:pPr algn="l"/>
            <a:r>
              <a:rPr sz="1200"/>
              <a:t>  - Разметка данных</a:t>
            </a:r>
          </a:p>
          <a:p>
            <a:pPr algn="l"/>
            <a:r>
              <a:rPr sz="1000"/>
              <a:t>  - Утверждение нового инкремента архитектуры</a:t>
            </a:r>
          </a:p>
          <a:p>
            <a:pPr algn="l"/>
            <a:r>
              <a:rPr sz="1200"/>
              <a:t/>
            </a:r>
          </a:p>
          <a:p>
            <a:pPr algn="l"/>
            <a:r>
              <a:rPr sz="1200"/>
              <a:t>Исполнение:</a:t>
            </a:r>
          </a:p>
          <a:p>
            <a:pPr algn="l"/>
            <a:r>
              <a:rPr sz="1200"/>
              <a:t>  - Отчёты и пользователи</a:t>
            </a:r>
          </a:p>
          <a:p>
            <a:pPr algn="l"/>
            <a:r>
              <a:rPr sz="1100"/>
              <a:t>  - Устранение блокеров миграции</a:t>
            </a:r>
          </a:p>
          <a:p>
            <a:pPr algn="l"/>
            <a:r>
              <a:rPr sz="900"/>
              <a:t>  - Миграция с Qlik на BI-систему собственной разработки. Проект 1 (1/2)</a:t>
            </a:r>
          </a:p>
          <a:p>
            <a:pPr algn="l"/>
            <a:r>
              <a:rPr sz="1000"/>
              <a:t>  - Разработка по другим CR, важным для клиента</a:t>
            </a:r>
          </a:p>
          <a:p>
            <a:pPr algn="l"/>
            <a:r>
              <a:rPr sz="1000"/>
              <a:t>  - Подготовка инфраструктуры (заказ выделенной БД)</a:t>
            </a:r>
          </a:p>
          <a:p>
            <a:pPr algn="l"/>
            <a:r>
              <a:rPr sz="1100"/>
              <a:t>  - Интеграция витрин и целевого BI</a:t>
            </a:r>
          </a:p>
          <a:p>
            <a:pPr algn="l"/>
            <a:r>
              <a:rPr sz="1200"/>
              <a:t>  - Экспорт PDF-версии</a:t>
            </a:r>
          </a:p>
          <a:p>
            <a:pPr algn="l"/>
            <a:r>
              <a:rPr sz="1200"/>
              <a:t>  - Рассылка pdf</a:t>
            </a:r>
          </a:p>
          <a:p>
            <a:pPr algn="l"/>
            <a:r>
              <a:rPr sz="1100"/>
              <a:t>  - Подготовка витрин отчетности</a:t>
            </a:r>
          </a:p>
          <a:p>
            <a:pPr algn="l"/>
            <a:r>
              <a:rPr sz="1100"/>
              <a:t>  - Разработка первой волны отчётов</a:t>
            </a:r>
          </a:p>
          <a:p>
            <a:pPr algn="l"/>
            <a:r>
              <a:rPr sz="1000"/>
              <a:t>  - Разработка и тестирование второй волны отчётов</a:t>
            </a:r>
          </a:p>
          <a:p>
            <a:pPr algn="l"/>
            <a:r>
              <a:rPr sz="1000"/>
              <a:t>  - Разработка и тестирование третьей волны отчётов</a:t>
            </a:r>
          </a:p>
          <a:p>
            <a:pPr algn="l"/>
            <a:r>
              <a:rPr sz="900"/>
              <a:t>  - 1 Волна – 2-3 новых отчёта со всеми возможностями новой BI системы, например, мобильное приложение.</a:t>
            </a:r>
          </a:p>
          <a:p>
            <a:pPr algn="l"/>
            <a:r>
              <a:rPr sz="900"/>
              <a:t>  - Б) Получение наглядного целевого решения, на которое будем ориентироваться</a:t>
            </a:r>
          </a:p>
          <a:p>
            <a:pPr algn="l"/>
            <a:r>
              <a:rPr sz="1000"/>
              <a:t>  - 2 Волна – перенос 60% существующих отчётов</a:t>
            </a:r>
          </a:p>
          <a:p>
            <a:pPr algn="l"/>
            <a:r>
              <a:rPr sz="1000"/>
              <a:t>  - 3 Волна - перенос оставшихся 40% существующих отчётов</a:t>
            </a:r>
          </a:p>
          <a:p>
            <a:pPr algn="l"/>
            <a:r>
              <a:rPr sz="900"/>
              <a:t>  - Миграция с Qlik на BI-систему собственной разработки. Проект 2</a:t>
            </a:r>
          </a:p>
          <a:p>
            <a:pPr algn="l"/>
            <a:r>
              <a:rPr sz="900"/>
              <a:t>  - Устранение блокеров миграции в целевом продукте (BI собственной разработки)</a:t>
            </a:r>
          </a:p>
          <a:p>
            <a:pPr algn="l"/>
            <a:r>
              <a:rPr sz="1100"/>
              <a:t>  - Инсталляция BI (Проект 2)</a:t>
            </a:r>
          </a:p>
          <a:p>
            <a:pPr algn="l"/>
            <a:r>
              <a:rPr sz="1200"/>
              <a:t>  - Доработка и</a:t>
            </a:r>
          </a:p>
          <a:p>
            <a:pPr algn="l"/>
            <a:r>
              <a:rPr sz="1200"/>
              <a:t>  - поставка на ПСИ</a:t>
            </a:r>
          </a:p>
          <a:p>
            <a:pPr algn="l"/>
            <a:r>
              <a:rPr sz="1100"/>
              <a:t>  - Настройка на ПСИ стенде</a:t>
            </a:r>
          </a:p>
          <a:p>
            <a:pPr algn="l"/>
            <a:r>
              <a:rPr sz="1200"/>
              <a:t>  - Настройка на</a:t>
            </a:r>
          </a:p>
          <a:p>
            <a:pPr algn="l"/>
            <a:r>
              <a:rPr sz="1100"/>
              <a:t>  - Функционал переноса дашбордов</a:t>
            </a:r>
          </a:p>
          <a:p>
            <a:pPr algn="l"/>
            <a:r>
              <a:rPr sz="1100"/>
              <a:t>  - Журналирование событий</a:t>
            </a:r>
          </a:p>
          <a:p>
            <a:pPr algn="l"/>
            <a:r>
              <a:rPr sz="1000"/>
              <a:t>  - Отсутствие лимита на кол-во записей в визуализации</a:t>
            </a:r>
          </a:p>
          <a:p>
            <a:pPr algn="l"/>
            <a:r>
              <a:rPr sz="1100"/>
              <a:t>  - Миграция потребителей Qlik</a:t>
            </a:r>
          </a:p>
          <a:p>
            <a:pPr algn="l"/>
            <a:r>
              <a:rPr sz="1100"/>
              <a:t>  - Подключение источников данных</a:t>
            </a:r>
          </a:p>
          <a:p>
            <a:pPr algn="l"/>
            <a:r>
              <a:rPr sz="1100"/>
              <a:t>  - Воссоздание витрин данных</a:t>
            </a:r>
          </a:p>
          <a:p>
            <a:pPr algn="l"/>
            <a:r>
              <a:rPr sz="1200"/>
              <a:t>  - Воссоздание дашбордов</a:t>
            </a:r>
          </a:p>
          <a:p>
            <a:pPr algn="l"/>
            <a:r>
              <a:rPr sz="1000"/>
              <a:t>  - Воссоздание дашбордов и витрин self-service проектов</a:t>
            </a:r>
          </a:p>
          <a:p>
            <a:pPr algn="l"/>
            <a:r>
              <a:rPr sz="1100"/>
              <a:t>  - Уход нецелевых проектов</a:t>
            </a:r>
          </a:p>
          <a:p>
            <a:pPr algn="l"/>
            <a:r>
              <a:rPr sz="1000"/>
              <a:t>  - Инсталляция BI (проект 2) выведена из эксплуатации</a:t>
            </a:r>
          </a:p>
          <a:p>
            <a:pPr algn="l"/>
            <a:r>
              <a:rPr sz="1200"/>
              <a:t>  - Настроен Dev стенд</a:t>
            </a:r>
          </a:p>
          <a:p>
            <a:pPr algn="l"/>
            <a:r>
              <a:rPr sz="1200"/>
              <a:t>  - Настройка на Dev</a:t>
            </a:r>
          </a:p>
          <a:p>
            <a:pPr algn="l"/>
            <a:r>
              <a:rPr sz="1200"/>
              <a:t>  - Инсталляция</a:t>
            </a:r>
          </a:p>
          <a:p>
            <a:pPr algn="l"/>
            <a:r>
              <a:rPr sz="900"/>
              <a:t>  - Миграция с Qlik на BI-систему собственной разработки. Проект 3</a:t>
            </a:r>
          </a:p>
          <a:p>
            <a:pPr algn="l"/>
            <a:r>
              <a:rPr sz="1100"/>
              <a:t>  - с AirFlow как ETL инструмент</a:t>
            </a:r>
          </a:p>
          <a:p>
            <a:pPr algn="l"/>
            <a:r>
              <a:rPr sz="1000"/>
              <a:t>  - Переработка ТОП-10 витрин над данными новых источников</a:t>
            </a:r>
          </a:p>
          <a:p>
            <a:pPr algn="l"/>
            <a:r>
              <a:rPr sz="1000"/>
              <a:t>  - Подготовка витрин по 10 отчетам УРИИАиС</a:t>
            </a:r>
          </a:p>
          <a:p>
            <a:pPr algn="l"/>
            <a:r>
              <a:rPr sz="1100"/>
              <a:t>  - Поставка данных для отчета 1</a:t>
            </a:r>
          </a:p>
          <a:p>
            <a:pPr algn="l"/>
            <a:r>
              <a:rPr sz="1100"/>
              <a:t>  - Визуализация сводных таблиц</a:t>
            </a:r>
          </a:p>
          <a:p>
            <a:pPr algn="l"/>
            <a:r>
              <a:rPr sz="1100"/>
              <a:t>  - Подготовка витрин по 10 отчетам</a:t>
            </a:r>
          </a:p>
          <a:p>
            <a:pPr algn="l"/>
            <a:r>
              <a:rPr sz="1100"/>
              <a:t>  - Подготовка витрин по 20 отчетам</a:t>
            </a:r>
          </a:p>
          <a:p>
            <a:pPr algn="l"/>
            <a:r>
              <a:rPr sz="1100"/>
              <a:t>  - Разработка 40 отчетов в целевом BI</a:t>
            </a:r>
          </a:p>
          <a:p>
            <a:pPr algn="l"/>
            <a:r>
              <a:rPr sz="1000"/>
              <a:t>  - Получить и настроить КТС для целевого BI</a:t>
            </a:r>
          </a:p>
          <a:p>
            <a:pPr algn="l"/>
            <a:r>
              <a:rPr sz="1100"/>
              <a:t>  - Настройка разделением данных</a:t>
            </a:r>
          </a:p>
          <a:p>
            <a:pPr algn="l"/>
            <a:r>
              <a:rPr sz="1200"/>
              <a:t>  - Публикация отдельных</a:t>
            </a:r>
          </a:p>
          <a:p>
            <a:pPr algn="l"/>
            <a:r>
              <a:rPr sz="1200"/>
              <a:t>  - Супермаркете данных</a:t>
            </a:r>
          </a:p>
          <a:p>
            <a:pPr algn="l"/>
            <a:r>
              <a:rPr sz="1200"/>
              <a:t/>
            </a:r>
          </a:p>
          <a:p>
            <a:pPr algn="l"/>
            <a:r>
              <a:rPr sz="1200"/>
              <a:t>Контроль и тестирование:</a:t>
            </a:r>
          </a:p>
          <a:p>
            <a:pPr algn="l"/>
            <a:r>
              <a:rPr sz="1200"/>
              <a:t>  - Тестирование</a:t>
            </a:r>
          </a:p>
          <a:p>
            <a:pPr algn="l"/>
            <a:r>
              <a:rPr sz="1200"/>
              <a:t>  - Parallel run</a:t>
            </a:r>
          </a:p>
          <a:p>
            <a:pPr algn="l"/>
            <a:r>
              <a:rPr sz="1200"/>
              <a:t>  - Вывод в ПРОМ</a:t>
            </a:r>
          </a:p>
          <a:p>
            <a:pPr algn="l"/>
            <a:r>
              <a:rPr sz="1200"/>
              <a:t>  - Настроен ПСИ стенд</a:t>
            </a:r>
          </a:p>
          <a:p>
            <a:pPr algn="l"/>
            <a:r>
              <a:rPr sz="1100"/>
              <a:t>  - Вывод в ПРОМ коммунального GreenPlum</a:t>
            </a:r>
          </a:p>
          <a:p>
            <a:pPr algn="l"/>
            <a:r>
              <a:rPr sz="1100"/>
              <a:t>  - Расчет топ-1 legacy-витрин в ПРОМ</a:t>
            </a:r>
          </a:p>
          <a:p>
            <a:pPr algn="l"/>
            <a:r>
              <a:rPr sz="1200"/>
              <a:t/>
            </a:r>
          </a:p>
          <a:p>
            <a:pPr algn="l"/>
            <a:r>
              <a:rPr sz="1100"/>
              <a:t>Завершение и ввод в эксплуатацию:</a:t>
            </a:r>
          </a:p>
          <a:p>
            <a:pPr algn="l"/>
            <a:r>
              <a:rPr sz="1200"/>
              <a:t>  - Выключение</a:t>
            </a:r>
          </a:p>
          <a:p>
            <a:pPr algn="l"/>
            <a:r>
              <a:rPr sz="1200"/>
              <a:t>  - Отказ от серверов</a:t>
            </a:r>
          </a:p>
          <a:p>
            <a:pPr algn="l"/>
            <a:r>
              <a:rPr sz="1100"/>
              <a:t>  - Legacy БД выведена из эксплуатации</a:t>
            </a:r>
          </a:p>
          <a:p>
            <a:pPr algn="l"/>
            <a:r>
              <a:rPr sz="1200"/>
              <a:t>  - Виджет обратной связи</a:t>
            </a:r>
          </a:p>
          <a:p>
            <a:pPr algn="l"/>
            <a:r>
              <a:rPr sz="1200"/>
              <a:t>  - Отказ от 4 серверов</a:t>
            </a:r>
          </a:p>
          <a:p>
            <a:pPr algn="l"/>
            <a:r>
              <a:rPr sz="1200"/>
              <a:t>  - Отказ от 2 серверов</a:t>
            </a:r>
          </a:p>
          <a:p>
            <a:pPr algn="l"/>
            <a:r>
              <a:rPr sz="1200"/>
              <a:t>  - Отказ от 13 серверов</a:t>
            </a:r>
          </a:p>
          <a:p>
            <a:pPr algn="l"/>
            <a:r>
              <a:rPr sz="1200"/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471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401018"/>
                </a:solidFill>
              </a:rPr>
              <a:t>Дорожная карта: работы по кварталам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7400" y="777240"/>
            <a:ext cx="1234440" cy="310896"/>
          </a:xfrm>
          <a:prstGeom prst="rect">
            <a:avLst/>
          </a:prstGeom>
          <a:solidFill>
            <a:srgbClr val="C94A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777240"/>
            <a:ext cx="1234440" cy="310896"/>
          </a:xfrm>
          <a:prstGeom prst="rect">
            <a:avLst/>
          </a:prstGeom>
          <a:solidFill>
            <a:srgbClr val="B84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80" y="777240"/>
            <a:ext cx="1234440" cy="310896"/>
          </a:xfrm>
          <a:prstGeom prst="rect">
            <a:avLst/>
          </a:prstGeom>
          <a:solidFill>
            <a:srgbClr val="A636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777240"/>
            <a:ext cx="1234440" cy="310896"/>
          </a:xfrm>
          <a:prstGeom prst="rect">
            <a:avLst/>
          </a:prstGeom>
          <a:solidFill>
            <a:srgbClr val="942C3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 2027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5160" y="777240"/>
            <a:ext cx="1234440" cy="310896"/>
          </a:xfrm>
          <a:prstGeom prst="rect">
            <a:avLst/>
          </a:prstGeom>
          <a:solidFill>
            <a:srgbClr val="82222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Q3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777240"/>
            <a:ext cx="1234440" cy="310896"/>
          </a:xfrm>
          <a:prstGeom prst="rect">
            <a:avLst/>
          </a:prstGeom>
          <a:solidFill>
            <a:srgbClr val="70182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Q4 2027</a:t>
            </a:r>
          </a:p>
        </p:txBody>
      </p:sp>
      <p:sp>
        <p:nvSpPr>
          <p:cNvPr id="9" name="Rectangle 8"/>
          <p:cNvSpPr/>
          <p:nvPr/>
        </p:nvSpPr>
        <p:spPr>
          <a:xfrm>
            <a:off x="9464040" y="777240"/>
            <a:ext cx="1234440" cy="310896"/>
          </a:xfrm>
          <a:prstGeom prst="rect">
            <a:avLst/>
          </a:prstGeom>
          <a:solidFill>
            <a:srgbClr val="5E0E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Q1 2028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0" y="777240"/>
            <a:ext cx="1234440" cy="310896"/>
          </a:xfrm>
          <a:prstGeom prst="rect">
            <a:avLst/>
          </a:prstGeom>
          <a:solidFill>
            <a:srgbClr val="4C040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Q2 2028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1088136"/>
            <a:ext cx="0" cy="4992624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526280" y="1088136"/>
            <a:ext cx="0" cy="4992624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60720" y="1088136"/>
            <a:ext cx="0" cy="4992624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95160" y="1088136"/>
            <a:ext cx="0" cy="4992624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0" y="1088136"/>
            <a:ext cx="0" cy="4992624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464040" y="1088136"/>
            <a:ext cx="0" cy="4992624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698480" y="1088136"/>
            <a:ext cx="0" cy="4992624"/>
          </a:xfrm>
          <a:prstGeom prst="line">
            <a:avLst/>
          </a:prstGeom>
          <a:ln w="63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65760" y="1188720"/>
            <a:ext cx="1463039" cy="978408"/>
          </a:xfrm>
          <a:prstGeom prst="rect">
            <a:avLst/>
          </a:prstGeom>
          <a:solidFill>
            <a:srgbClr val="6A9FC9"/>
          </a:solidFill>
          <a:ln>
            <a:solidFill>
              <a:srgbClr val="FFFFFF"/>
            </a:solidFill>
          </a:ln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Инициирование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57400" y="1234440"/>
            <a:ext cx="2423160" cy="886968"/>
          </a:xfrm>
          <a:prstGeom prst="rect">
            <a:avLst/>
          </a:prstGeom>
          <a:solidFill>
            <a:srgbClr val="6A9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Инициирование  </a:t>
            </a:r>
          </a:p>
        </p:txBody>
      </p:sp>
      <p:sp>
        <p:nvSpPr>
          <p:cNvPr id="20" name="Chevron 19"/>
          <p:cNvSpPr/>
          <p:nvPr/>
        </p:nvSpPr>
        <p:spPr>
          <a:xfrm>
            <a:off x="2112264" y="1261872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Ревизия текущих отчетов</a:t>
            </a:r>
          </a:p>
        </p:txBody>
      </p:sp>
      <p:sp>
        <p:nvSpPr>
          <p:cNvPr id="21" name="Diamond 20"/>
          <p:cNvSpPr/>
          <p:nvPr/>
        </p:nvSpPr>
        <p:spPr>
          <a:xfrm>
            <a:off x="4379976" y="1243584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2112264" y="1372743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Создание ролевой модели</a:t>
            </a:r>
          </a:p>
        </p:txBody>
      </p:sp>
      <p:sp>
        <p:nvSpPr>
          <p:cNvPr id="23" name="Diamond 22"/>
          <p:cNvSpPr/>
          <p:nvPr/>
        </p:nvSpPr>
        <p:spPr>
          <a:xfrm>
            <a:off x="4379976" y="1354455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2112264" y="1483614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Получение доступов разработчиков отчётов</a:t>
            </a:r>
          </a:p>
        </p:txBody>
      </p:sp>
      <p:sp>
        <p:nvSpPr>
          <p:cNvPr id="25" name="Diamond 24"/>
          <p:cNvSpPr/>
          <p:nvPr/>
        </p:nvSpPr>
        <p:spPr>
          <a:xfrm>
            <a:off x="4379976" y="1465326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2112264" y="1594485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Получение доступов бизнес-приёмки (владельцев…</a:t>
            </a:r>
          </a:p>
        </p:txBody>
      </p:sp>
      <p:sp>
        <p:nvSpPr>
          <p:cNvPr id="27" name="Diamond 26"/>
          <p:cNvSpPr/>
          <p:nvPr/>
        </p:nvSpPr>
        <p:spPr>
          <a:xfrm>
            <a:off x="4379976" y="1576197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2112264" y="1705356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Получение доступов пользователей</a:t>
            </a:r>
          </a:p>
        </p:txBody>
      </p:sp>
      <p:sp>
        <p:nvSpPr>
          <p:cNvPr id="29" name="Diamond 28"/>
          <p:cNvSpPr/>
          <p:nvPr/>
        </p:nvSpPr>
        <p:spPr>
          <a:xfrm>
            <a:off x="4379976" y="1687068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2112264" y="1816227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А) Получение опыта разработчиков, администрат…</a:t>
            </a:r>
          </a:p>
        </p:txBody>
      </p:sp>
      <p:sp>
        <p:nvSpPr>
          <p:cNvPr id="31" name="Diamond 30"/>
          <p:cNvSpPr/>
          <p:nvPr/>
        </p:nvSpPr>
        <p:spPr>
          <a:xfrm>
            <a:off x="4379976" y="1797939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2112264" y="1927098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Пилот проектов self-service</a:t>
            </a:r>
          </a:p>
        </p:txBody>
      </p:sp>
      <p:sp>
        <p:nvSpPr>
          <p:cNvPr id="33" name="Diamond 32"/>
          <p:cNvSpPr/>
          <p:nvPr/>
        </p:nvSpPr>
        <p:spPr>
          <a:xfrm>
            <a:off x="4379976" y="1908810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evron 33"/>
          <p:cNvSpPr/>
          <p:nvPr/>
        </p:nvSpPr>
        <p:spPr>
          <a:xfrm>
            <a:off x="2112264" y="2037969"/>
            <a:ext cx="2359152" cy="109728"/>
          </a:xfrm>
          <a:prstGeom prst="chevron">
            <a:avLst/>
          </a:prstGeom>
          <a:solidFill>
            <a:srgbClr val="9ACFF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Анализ новых источников данных</a:t>
            </a:r>
          </a:p>
        </p:txBody>
      </p:sp>
      <p:sp>
        <p:nvSpPr>
          <p:cNvPr id="35" name="Diamond 34"/>
          <p:cNvSpPr/>
          <p:nvPr/>
        </p:nvSpPr>
        <p:spPr>
          <a:xfrm>
            <a:off x="4379976" y="2019681"/>
            <a:ext cx="164592" cy="146304"/>
          </a:xfrm>
          <a:prstGeom prst="diamond">
            <a:avLst/>
          </a:prstGeom>
          <a:solidFill>
            <a:srgbClr val="6A9FC9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1234440"/>
            <a:ext cx="1188720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</a:rPr>
              <a:t>+ ещё 1 работ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2167128"/>
            <a:ext cx="1463039" cy="978408"/>
          </a:xfrm>
          <a:prstGeom prst="rect">
            <a:avLst/>
          </a:prstGeom>
          <a:solidFill>
            <a:srgbClr val="66B29B"/>
          </a:solidFill>
          <a:ln>
            <a:solidFill>
              <a:srgbClr val="FFFFFF"/>
            </a:solidFill>
          </a:ln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Планирование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2212848"/>
            <a:ext cx="2423160" cy="886968"/>
          </a:xfrm>
          <a:prstGeom prst="rect">
            <a:avLst/>
          </a:prstGeom>
          <a:solidFill>
            <a:srgbClr val="66B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Планирование  </a:t>
            </a:r>
          </a:p>
        </p:txBody>
      </p:sp>
      <p:sp>
        <p:nvSpPr>
          <p:cNvPr id="39" name="Chevron 38"/>
          <p:cNvSpPr/>
          <p:nvPr/>
        </p:nvSpPr>
        <p:spPr>
          <a:xfrm>
            <a:off x="3346704" y="2240279"/>
            <a:ext cx="2359152" cy="109728"/>
          </a:xfrm>
          <a:prstGeom prst="chevron">
            <a:avLst/>
          </a:prstGeom>
          <a:solidFill>
            <a:srgbClr val="96E2C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Разработка архитектуры и процессов</a:t>
            </a:r>
          </a:p>
        </p:txBody>
      </p:sp>
      <p:sp>
        <p:nvSpPr>
          <p:cNvPr id="40" name="Diamond 39"/>
          <p:cNvSpPr/>
          <p:nvPr/>
        </p:nvSpPr>
        <p:spPr>
          <a:xfrm>
            <a:off x="5614416" y="2221991"/>
            <a:ext cx="164592" cy="146304"/>
          </a:xfrm>
          <a:prstGeom prst="diamond">
            <a:avLst/>
          </a:prstGeom>
          <a:solidFill>
            <a:srgbClr val="66B29B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evron 40"/>
          <p:cNvSpPr/>
          <p:nvPr/>
        </p:nvSpPr>
        <p:spPr>
          <a:xfrm>
            <a:off x="3346704" y="2388107"/>
            <a:ext cx="2359152" cy="109728"/>
          </a:xfrm>
          <a:prstGeom prst="chevron">
            <a:avLst/>
          </a:prstGeom>
          <a:solidFill>
            <a:srgbClr val="96E2C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Архитектура и инфраструктура</a:t>
            </a:r>
          </a:p>
        </p:txBody>
      </p:sp>
      <p:sp>
        <p:nvSpPr>
          <p:cNvPr id="42" name="Diamond 41"/>
          <p:cNvSpPr/>
          <p:nvPr/>
        </p:nvSpPr>
        <p:spPr>
          <a:xfrm>
            <a:off x="5614416" y="2369819"/>
            <a:ext cx="164592" cy="146304"/>
          </a:xfrm>
          <a:prstGeom prst="diamond">
            <a:avLst/>
          </a:prstGeom>
          <a:solidFill>
            <a:srgbClr val="66B29B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hevron 42"/>
          <p:cNvSpPr/>
          <p:nvPr/>
        </p:nvSpPr>
        <p:spPr>
          <a:xfrm>
            <a:off x="3346704" y="2535935"/>
            <a:ext cx="2359152" cy="109728"/>
          </a:xfrm>
          <a:prstGeom prst="chevron">
            <a:avLst/>
          </a:prstGeom>
          <a:solidFill>
            <a:srgbClr val="96E2C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Синхронизация планов миграции дашбордов и ист…</a:t>
            </a:r>
          </a:p>
        </p:txBody>
      </p:sp>
      <p:sp>
        <p:nvSpPr>
          <p:cNvPr id="44" name="Diamond 43"/>
          <p:cNvSpPr/>
          <p:nvPr/>
        </p:nvSpPr>
        <p:spPr>
          <a:xfrm>
            <a:off x="5614416" y="2517647"/>
            <a:ext cx="164592" cy="146304"/>
          </a:xfrm>
          <a:prstGeom prst="diamond">
            <a:avLst/>
          </a:prstGeom>
          <a:solidFill>
            <a:srgbClr val="66B29B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evron 44"/>
          <p:cNvSpPr/>
          <p:nvPr/>
        </p:nvSpPr>
        <p:spPr>
          <a:xfrm>
            <a:off x="3346704" y="2683763"/>
            <a:ext cx="2359152" cy="109728"/>
          </a:xfrm>
          <a:prstGeom prst="chevron">
            <a:avLst/>
          </a:prstGeom>
          <a:solidFill>
            <a:srgbClr val="96E2C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Разработка редактора витрин</a:t>
            </a:r>
          </a:p>
        </p:txBody>
      </p:sp>
      <p:sp>
        <p:nvSpPr>
          <p:cNvPr id="46" name="Diamond 45"/>
          <p:cNvSpPr/>
          <p:nvPr/>
        </p:nvSpPr>
        <p:spPr>
          <a:xfrm>
            <a:off x="5614416" y="2665475"/>
            <a:ext cx="164592" cy="146304"/>
          </a:xfrm>
          <a:prstGeom prst="diamond">
            <a:avLst/>
          </a:prstGeom>
          <a:solidFill>
            <a:srgbClr val="66B29B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evron 46"/>
          <p:cNvSpPr/>
          <p:nvPr/>
        </p:nvSpPr>
        <p:spPr>
          <a:xfrm>
            <a:off x="3346704" y="2831591"/>
            <a:ext cx="2359152" cy="109728"/>
          </a:xfrm>
          <a:prstGeom prst="chevron">
            <a:avLst/>
          </a:prstGeom>
          <a:solidFill>
            <a:srgbClr val="96E2C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Разметка данных</a:t>
            </a:r>
          </a:p>
        </p:txBody>
      </p:sp>
      <p:sp>
        <p:nvSpPr>
          <p:cNvPr id="48" name="Diamond 47"/>
          <p:cNvSpPr/>
          <p:nvPr/>
        </p:nvSpPr>
        <p:spPr>
          <a:xfrm>
            <a:off x="5614416" y="2813303"/>
            <a:ext cx="164592" cy="146304"/>
          </a:xfrm>
          <a:prstGeom prst="diamond">
            <a:avLst/>
          </a:prstGeom>
          <a:solidFill>
            <a:srgbClr val="66B29B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3346704" y="2979420"/>
            <a:ext cx="2359152" cy="109728"/>
          </a:xfrm>
          <a:prstGeom prst="chevron">
            <a:avLst/>
          </a:prstGeom>
          <a:solidFill>
            <a:srgbClr val="96E2C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Утверждение нового инкремента архитектуры</a:t>
            </a:r>
          </a:p>
        </p:txBody>
      </p:sp>
      <p:sp>
        <p:nvSpPr>
          <p:cNvPr id="50" name="Diamond 49"/>
          <p:cNvSpPr/>
          <p:nvPr/>
        </p:nvSpPr>
        <p:spPr>
          <a:xfrm>
            <a:off x="5614416" y="2961132"/>
            <a:ext cx="164592" cy="146304"/>
          </a:xfrm>
          <a:prstGeom prst="diamond">
            <a:avLst/>
          </a:prstGeom>
          <a:solidFill>
            <a:srgbClr val="66B29B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3145536"/>
            <a:ext cx="1463039" cy="978408"/>
          </a:xfrm>
          <a:prstGeom prst="rect">
            <a:avLst/>
          </a:prstGeom>
          <a:solidFill>
            <a:srgbClr val="D5824F"/>
          </a:solidFill>
          <a:ln>
            <a:solidFill>
              <a:srgbClr val="FFFFFF"/>
            </a:solidFill>
          </a:ln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Исполнение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26280" y="3191256"/>
            <a:ext cx="4892040" cy="886968"/>
          </a:xfrm>
          <a:prstGeom prst="rect">
            <a:avLst/>
          </a:prstGeom>
          <a:solidFill>
            <a:srgbClr val="D58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Исполнение  </a:t>
            </a:r>
          </a:p>
        </p:txBody>
      </p:sp>
      <p:sp>
        <p:nvSpPr>
          <p:cNvPr id="53" name="Chevron 52"/>
          <p:cNvSpPr/>
          <p:nvPr/>
        </p:nvSpPr>
        <p:spPr>
          <a:xfrm>
            <a:off x="4581144" y="3218688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Отчёты и пользователи</a:t>
            </a:r>
          </a:p>
        </p:txBody>
      </p:sp>
      <p:sp>
        <p:nvSpPr>
          <p:cNvPr id="54" name="Diamond 53"/>
          <p:cNvSpPr/>
          <p:nvPr/>
        </p:nvSpPr>
        <p:spPr>
          <a:xfrm>
            <a:off x="6848856" y="3200400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evron 54"/>
          <p:cNvSpPr/>
          <p:nvPr/>
        </p:nvSpPr>
        <p:spPr>
          <a:xfrm>
            <a:off x="4581144" y="3329559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Устранение блокеров миграции</a:t>
            </a:r>
          </a:p>
        </p:txBody>
      </p:sp>
      <p:sp>
        <p:nvSpPr>
          <p:cNvPr id="56" name="Diamond 55"/>
          <p:cNvSpPr/>
          <p:nvPr/>
        </p:nvSpPr>
        <p:spPr>
          <a:xfrm>
            <a:off x="6848856" y="3311271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evron 56"/>
          <p:cNvSpPr/>
          <p:nvPr/>
        </p:nvSpPr>
        <p:spPr>
          <a:xfrm>
            <a:off x="4581144" y="3440430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Миграция с Qlik на BI-систему собственной раз…</a:t>
            </a:r>
          </a:p>
        </p:txBody>
      </p:sp>
      <p:sp>
        <p:nvSpPr>
          <p:cNvPr id="58" name="Diamond 57"/>
          <p:cNvSpPr/>
          <p:nvPr/>
        </p:nvSpPr>
        <p:spPr>
          <a:xfrm>
            <a:off x="6848856" y="3422142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evron 58"/>
          <p:cNvSpPr/>
          <p:nvPr/>
        </p:nvSpPr>
        <p:spPr>
          <a:xfrm>
            <a:off x="5815584" y="3551301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Разработка по другим CR, важным для клиента</a:t>
            </a:r>
          </a:p>
        </p:txBody>
      </p:sp>
      <p:sp>
        <p:nvSpPr>
          <p:cNvPr id="60" name="Diamond 59"/>
          <p:cNvSpPr/>
          <p:nvPr/>
        </p:nvSpPr>
        <p:spPr>
          <a:xfrm>
            <a:off x="8083296" y="3533013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evron 60"/>
          <p:cNvSpPr/>
          <p:nvPr/>
        </p:nvSpPr>
        <p:spPr>
          <a:xfrm>
            <a:off x="5815584" y="3662172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Подготовка инфраструктуры (заказ выделенной БД)</a:t>
            </a:r>
          </a:p>
        </p:txBody>
      </p:sp>
      <p:sp>
        <p:nvSpPr>
          <p:cNvPr id="62" name="Diamond 61"/>
          <p:cNvSpPr/>
          <p:nvPr/>
        </p:nvSpPr>
        <p:spPr>
          <a:xfrm>
            <a:off x="8083296" y="3643884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evron 62"/>
          <p:cNvSpPr/>
          <p:nvPr/>
        </p:nvSpPr>
        <p:spPr>
          <a:xfrm>
            <a:off x="5815584" y="3773043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Интеграция витрин и целевого BI</a:t>
            </a:r>
          </a:p>
        </p:txBody>
      </p:sp>
      <p:sp>
        <p:nvSpPr>
          <p:cNvPr id="64" name="Diamond 63"/>
          <p:cNvSpPr/>
          <p:nvPr/>
        </p:nvSpPr>
        <p:spPr>
          <a:xfrm>
            <a:off x="8083296" y="3754755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evron 64"/>
          <p:cNvSpPr/>
          <p:nvPr/>
        </p:nvSpPr>
        <p:spPr>
          <a:xfrm>
            <a:off x="7050024" y="3883914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Экспорт PDF-версии</a:t>
            </a:r>
          </a:p>
        </p:txBody>
      </p:sp>
      <p:sp>
        <p:nvSpPr>
          <p:cNvPr id="66" name="Diamond 65"/>
          <p:cNvSpPr/>
          <p:nvPr/>
        </p:nvSpPr>
        <p:spPr>
          <a:xfrm>
            <a:off x="9317736" y="3865626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evron 66"/>
          <p:cNvSpPr/>
          <p:nvPr/>
        </p:nvSpPr>
        <p:spPr>
          <a:xfrm>
            <a:off x="7050024" y="3994785"/>
            <a:ext cx="2359152" cy="109728"/>
          </a:xfrm>
          <a:prstGeom prst="chevron">
            <a:avLst/>
          </a:prstGeom>
          <a:solidFill>
            <a:srgbClr val="FFB27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Рассылка pdf</a:t>
            </a:r>
          </a:p>
        </p:txBody>
      </p:sp>
      <p:sp>
        <p:nvSpPr>
          <p:cNvPr id="68" name="Diamond 67"/>
          <p:cNvSpPr/>
          <p:nvPr/>
        </p:nvSpPr>
        <p:spPr>
          <a:xfrm>
            <a:off x="9317736" y="3976497"/>
            <a:ext cx="164592" cy="146304"/>
          </a:xfrm>
          <a:prstGeom prst="diamond">
            <a:avLst/>
          </a:prstGeom>
          <a:solidFill>
            <a:srgbClr val="D5824F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52760" y="3191256"/>
            <a:ext cx="1188720" cy="8869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 i="1">
                <a:solidFill>
                  <a:srgbClr val="606060"/>
                </a:solidFill>
              </a:rPr>
              <a:t>+ ещё 41 работ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4123944"/>
            <a:ext cx="1463039" cy="978408"/>
          </a:xfrm>
          <a:prstGeom prst="rect">
            <a:avLst/>
          </a:prstGeom>
          <a:solidFill>
            <a:srgbClr val="C9A866"/>
          </a:solidFill>
          <a:ln>
            <a:solidFill>
              <a:srgbClr val="FFFFFF"/>
            </a:solidFill>
          </a:ln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Контроль и тестирование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95160" y="4169663"/>
            <a:ext cx="3657600" cy="886968"/>
          </a:xfrm>
          <a:prstGeom prst="rect">
            <a:avLst/>
          </a:prstGeom>
          <a:solidFill>
            <a:srgbClr val="C9A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Контроль и тестирование  </a:t>
            </a:r>
          </a:p>
        </p:txBody>
      </p:sp>
      <p:sp>
        <p:nvSpPr>
          <p:cNvPr id="72" name="Chevron 71"/>
          <p:cNvSpPr/>
          <p:nvPr/>
        </p:nvSpPr>
        <p:spPr>
          <a:xfrm>
            <a:off x="7050024" y="4197096"/>
            <a:ext cx="2359152" cy="109728"/>
          </a:xfrm>
          <a:prstGeom prst="chevron">
            <a:avLst/>
          </a:prstGeom>
          <a:solidFill>
            <a:srgbClr val="F9D8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Тестирование</a:t>
            </a:r>
          </a:p>
        </p:txBody>
      </p:sp>
      <p:sp>
        <p:nvSpPr>
          <p:cNvPr id="73" name="Diamond 72"/>
          <p:cNvSpPr/>
          <p:nvPr/>
        </p:nvSpPr>
        <p:spPr>
          <a:xfrm>
            <a:off x="9317736" y="4178808"/>
            <a:ext cx="164592" cy="146304"/>
          </a:xfrm>
          <a:prstGeom prst="diamond">
            <a:avLst/>
          </a:prstGeom>
          <a:solidFill>
            <a:srgbClr val="C9A866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hevron 73"/>
          <p:cNvSpPr/>
          <p:nvPr/>
        </p:nvSpPr>
        <p:spPr>
          <a:xfrm>
            <a:off x="7050024" y="4344924"/>
            <a:ext cx="2359152" cy="109728"/>
          </a:xfrm>
          <a:prstGeom prst="chevron">
            <a:avLst/>
          </a:prstGeom>
          <a:solidFill>
            <a:srgbClr val="F9D8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Parallel run</a:t>
            </a:r>
          </a:p>
        </p:txBody>
      </p:sp>
      <p:sp>
        <p:nvSpPr>
          <p:cNvPr id="75" name="Diamond 74"/>
          <p:cNvSpPr/>
          <p:nvPr/>
        </p:nvSpPr>
        <p:spPr>
          <a:xfrm>
            <a:off x="9317736" y="4326636"/>
            <a:ext cx="164592" cy="146304"/>
          </a:xfrm>
          <a:prstGeom prst="diamond">
            <a:avLst/>
          </a:prstGeom>
          <a:solidFill>
            <a:srgbClr val="C9A866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hevron 75"/>
          <p:cNvSpPr/>
          <p:nvPr/>
        </p:nvSpPr>
        <p:spPr>
          <a:xfrm>
            <a:off x="7050024" y="4492752"/>
            <a:ext cx="2359152" cy="109728"/>
          </a:xfrm>
          <a:prstGeom prst="chevron">
            <a:avLst/>
          </a:prstGeom>
          <a:solidFill>
            <a:srgbClr val="F9D8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Вывод в ПРОМ</a:t>
            </a:r>
          </a:p>
        </p:txBody>
      </p:sp>
      <p:sp>
        <p:nvSpPr>
          <p:cNvPr id="77" name="Diamond 76"/>
          <p:cNvSpPr/>
          <p:nvPr/>
        </p:nvSpPr>
        <p:spPr>
          <a:xfrm>
            <a:off x="9317736" y="4474464"/>
            <a:ext cx="164592" cy="146304"/>
          </a:xfrm>
          <a:prstGeom prst="diamond">
            <a:avLst/>
          </a:prstGeom>
          <a:solidFill>
            <a:srgbClr val="C9A866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evron 77"/>
          <p:cNvSpPr/>
          <p:nvPr/>
        </p:nvSpPr>
        <p:spPr>
          <a:xfrm>
            <a:off x="8284464" y="4640580"/>
            <a:ext cx="2359152" cy="109728"/>
          </a:xfrm>
          <a:prstGeom prst="chevron">
            <a:avLst/>
          </a:prstGeom>
          <a:solidFill>
            <a:srgbClr val="F9D8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Настроен ПСИ стенд</a:t>
            </a:r>
          </a:p>
        </p:txBody>
      </p:sp>
      <p:sp>
        <p:nvSpPr>
          <p:cNvPr id="79" name="Diamond 78"/>
          <p:cNvSpPr/>
          <p:nvPr/>
        </p:nvSpPr>
        <p:spPr>
          <a:xfrm>
            <a:off x="10552176" y="4622292"/>
            <a:ext cx="164592" cy="146304"/>
          </a:xfrm>
          <a:prstGeom prst="diamond">
            <a:avLst/>
          </a:prstGeom>
          <a:solidFill>
            <a:srgbClr val="C9A866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evron 79"/>
          <p:cNvSpPr/>
          <p:nvPr/>
        </p:nvSpPr>
        <p:spPr>
          <a:xfrm>
            <a:off x="8284464" y="4788408"/>
            <a:ext cx="2359152" cy="109728"/>
          </a:xfrm>
          <a:prstGeom prst="chevron">
            <a:avLst/>
          </a:prstGeom>
          <a:solidFill>
            <a:srgbClr val="F9D8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Вывод в ПРОМ коммунального GreenPlum</a:t>
            </a:r>
          </a:p>
        </p:txBody>
      </p:sp>
      <p:sp>
        <p:nvSpPr>
          <p:cNvPr id="81" name="Diamond 80"/>
          <p:cNvSpPr/>
          <p:nvPr/>
        </p:nvSpPr>
        <p:spPr>
          <a:xfrm>
            <a:off x="10552176" y="4770120"/>
            <a:ext cx="164592" cy="146304"/>
          </a:xfrm>
          <a:prstGeom prst="diamond">
            <a:avLst/>
          </a:prstGeom>
          <a:solidFill>
            <a:srgbClr val="C9A866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hevron 81"/>
          <p:cNvSpPr/>
          <p:nvPr/>
        </p:nvSpPr>
        <p:spPr>
          <a:xfrm>
            <a:off x="8284464" y="4936236"/>
            <a:ext cx="2359152" cy="109728"/>
          </a:xfrm>
          <a:prstGeom prst="chevron">
            <a:avLst/>
          </a:prstGeom>
          <a:solidFill>
            <a:srgbClr val="F9D896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Расчет топ-1 legacy-витрин в ПРОМ</a:t>
            </a:r>
          </a:p>
        </p:txBody>
      </p:sp>
      <p:sp>
        <p:nvSpPr>
          <p:cNvPr id="83" name="Diamond 82"/>
          <p:cNvSpPr/>
          <p:nvPr/>
        </p:nvSpPr>
        <p:spPr>
          <a:xfrm>
            <a:off x="10552176" y="4917948"/>
            <a:ext cx="164592" cy="146304"/>
          </a:xfrm>
          <a:prstGeom prst="diamond">
            <a:avLst/>
          </a:prstGeom>
          <a:solidFill>
            <a:srgbClr val="C9A866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5760" y="5102352"/>
            <a:ext cx="1463039" cy="978408"/>
          </a:xfrm>
          <a:prstGeom prst="rect">
            <a:avLst/>
          </a:prstGeom>
          <a:solidFill>
            <a:srgbClr val="916CB2"/>
          </a:solidFill>
          <a:ln>
            <a:solidFill>
              <a:srgbClr val="FFFFFF"/>
            </a:solidFill>
          </a:ln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Завершение и ввод в эксплуатацию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29600" y="5148072"/>
            <a:ext cx="3657600" cy="886968"/>
          </a:xfrm>
          <a:prstGeom prst="rect">
            <a:avLst/>
          </a:prstGeom>
          <a:solidFill>
            <a:srgbClr val="916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  Завершение и ввод в эксплуатацию  </a:t>
            </a:r>
          </a:p>
        </p:txBody>
      </p:sp>
      <p:sp>
        <p:nvSpPr>
          <p:cNvPr id="86" name="Chevron 85"/>
          <p:cNvSpPr/>
          <p:nvPr/>
        </p:nvSpPr>
        <p:spPr>
          <a:xfrm>
            <a:off x="8284464" y="5175504"/>
            <a:ext cx="2359152" cy="109728"/>
          </a:xfrm>
          <a:prstGeom prst="chevron">
            <a:avLst/>
          </a:prstGeom>
          <a:solidFill>
            <a:srgbClr val="C19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Выключение</a:t>
            </a:r>
          </a:p>
        </p:txBody>
      </p:sp>
      <p:sp>
        <p:nvSpPr>
          <p:cNvPr id="87" name="Diamond 86"/>
          <p:cNvSpPr/>
          <p:nvPr/>
        </p:nvSpPr>
        <p:spPr>
          <a:xfrm>
            <a:off x="10552176" y="5157216"/>
            <a:ext cx="164592" cy="146304"/>
          </a:xfrm>
          <a:prstGeom prst="diamond">
            <a:avLst/>
          </a:prstGeom>
          <a:solidFill>
            <a:srgbClr val="916CB2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hevron 87"/>
          <p:cNvSpPr/>
          <p:nvPr/>
        </p:nvSpPr>
        <p:spPr>
          <a:xfrm>
            <a:off x="8284464" y="5302213"/>
            <a:ext cx="2359152" cy="109728"/>
          </a:xfrm>
          <a:prstGeom prst="chevron">
            <a:avLst/>
          </a:prstGeom>
          <a:solidFill>
            <a:srgbClr val="C19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Отказ от серверов</a:t>
            </a:r>
          </a:p>
        </p:txBody>
      </p:sp>
      <p:sp>
        <p:nvSpPr>
          <p:cNvPr id="89" name="Diamond 88"/>
          <p:cNvSpPr/>
          <p:nvPr/>
        </p:nvSpPr>
        <p:spPr>
          <a:xfrm>
            <a:off x="10552176" y="5283925"/>
            <a:ext cx="164592" cy="146304"/>
          </a:xfrm>
          <a:prstGeom prst="diamond">
            <a:avLst/>
          </a:prstGeom>
          <a:solidFill>
            <a:srgbClr val="916CB2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hevron 89"/>
          <p:cNvSpPr/>
          <p:nvPr/>
        </p:nvSpPr>
        <p:spPr>
          <a:xfrm>
            <a:off x="8284464" y="5428923"/>
            <a:ext cx="2359152" cy="109728"/>
          </a:xfrm>
          <a:prstGeom prst="chevron">
            <a:avLst/>
          </a:prstGeom>
          <a:solidFill>
            <a:srgbClr val="C19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Legacy БД выведена из эксплуатации</a:t>
            </a:r>
          </a:p>
        </p:txBody>
      </p:sp>
      <p:sp>
        <p:nvSpPr>
          <p:cNvPr id="91" name="Diamond 90"/>
          <p:cNvSpPr/>
          <p:nvPr/>
        </p:nvSpPr>
        <p:spPr>
          <a:xfrm>
            <a:off x="10552176" y="5410635"/>
            <a:ext cx="164592" cy="146304"/>
          </a:xfrm>
          <a:prstGeom prst="diamond">
            <a:avLst/>
          </a:prstGeom>
          <a:solidFill>
            <a:srgbClr val="916CB2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hevron 91"/>
          <p:cNvSpPr/>
          <p:nvPr/>
        </p:nvSpPr>
        <p:spPr>
          <a:xfrm>
            <a:off x="8284464" y="5555633"/>
            <a:ext cx="2359152" cy="109728"/>
          </a:xfrm>
          <a:prstGeom prst="chevron">
            <a:avLst/>
          </a:prstGeom>
          <a:solidFill>
            <a:srgbClr val="C19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Виджет обратной связи</a:t>
            </a:r>
          </a:p>
        </p:txBody>
      </p:sp>
      <p:sp>
        <p:nvSpPr>
          <p:cNvPr id="93" name="Diamond 92"/>
          <p:cNvSpPr/>
          <p:nvPr/>
        </p:nvSpPr>
        <p:spPr>
          <a:xfrm>
            <a:off x="10552176" y="5537345"/>
            <a:ext cx="164592" cy="146304"/>
          </a:xfrm>
          <a:prstGeom prst="diamond">
            <a:avLst/>
          </a:prstGeom>
          <a:solidFill>
            <a:srgbClr val="916CB2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Chevron 93"/>
          <p:cNvSpPr/>
          <p:nvPr/>
        </p:nvSpPr>
        <p:spPr>
          <a:xfrm>
            <a:off x="9518904" y="5682342"/>
            <a:ext cx="2359152" cy="109728"/>
          </a:xfrm>
          <a:prstGeom prst="chevron">
            <a:avLst/>
          </a:prstGeom>
          <a:solidFill>
            <a:srgbClr val="C19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Отказ от 4 серверов</a:t>
            </a:r>
          </a:p>
        </p:txBody>
      </p:sp>
      <p:sp>
        <p:nvSpPr>
          <p:cNvPr id="95" name="Diamond 94"/>
          <p:cNvSpPr/>
          <p:nvPr/>
        </p:nvSpPr>
        <p:spPr>
          <a:xfrm>
            <a:off x="11786616" y="5664054"/>
            <a:ext cx="164592" cy="146304"/>
          </a:xfrm>
          <a:prstGeom prst="diamond">
            <a:avLst/>
          </a:prstGeom>
          <a:solidFill>
            <a:srgbClr val="916CB2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Chevron 95"/>
          <p:cNvSpPr/>
          <p:nvPr/>
        </p:nvSpPr>
        <p:spPr>
          <a:xfrm>
            <a:off x="9518904" y="5809052"/>
            <a:ext cx="2359152" cy="109728"/>
          </a:xfrm>
          <a:prstGeom prst="chevron">
            <a:avLst/>
          </a:prstGeom>
          <a:solidFill>
            <a:srgbClr val="C19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Отказ от 2 серверов</a:t>
            </a:r>
          </a:p>
        </p:txBody>
      </p:sp>
      <p:sp>
        <p:nvSpPr>
          <p:cNvPr id="97" name="Diamond 96"/>
          <p:cNvSpPr/>
          <p:nvPr/>
        </p:nvSpPr>
        <p:spPr>
          <a:xfrm>
            <a:off x="11786616" y="5790764"/>
            <a:ext cx="164592" cy="146304"/>
          </a:xfrm>
          <a:prstGeom prst="diamond">
            <a:avLst/>
          </a:prstGeom>
          <a:solidFill>
            <a:srgbClr val="916CB2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Chevron 97"/>
          <p:cNvSpPr/>
          <p:nvPr/>
        </p:nvSpPr>
        <p:spPr>
          <a:xfrm>
            <a:off x="9518904" y="5935762"/>
            <a:ext cx="2359152" cy="109728"/>
          </a:xfrm>
          <a:prstGeom prst="chevron">
            <a:avLst/>
          </a:prstGeom>
          <a:solidFill>
            <a:srgbClr val="C19CE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l"/>
            <a:r>
              <a:rPr sz="800" b="0" i="0">
                <a:solidFill>
                  <a:srgbClr val="202020"/>
                </a:solidFill>
              </a:rPr>
              <a:t>Отказ от 13 серверов</a:t>
            </a:r>
          </a:p>
        </p:txBody>
      </p:sp>
      <p:sp>
        <p:nvSpPr>
          <p:cNvPr id="99" name="Diamond 98"/>
          <p:cNvSpPr/>
          <p:nvPr/>
        </p:nvSpPr>
        <p:spPr>
          <a:xfrm>
            <a:off x="11786616" y="5917474"/>
            <a:ext cx="164592" cy="146304"/>
          </a:xfrm>
          <a:prstGeom prst="diamond">
            <a:avLst/>
          </a:prstGeom>
          <a:solidFill>
            <a:srgbClr val="916CB2"/>
          </a:solidFill>
          <a:ln w="508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57200" y="619963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02020"/>
                </a:solidFill>
              </a:rPr>
              <a:t>Фазы: </a:t>
            </a:r>
            <a:r>
              <a:rPr sz="1000">
                <a:solidFill>
                  <a:srgbClr val="6A9FC9"/>
                </a:solidFill>
              </a:rPr>
              <a:t>■ Инициирование   </a:t>
            </a:r>
            <a:r>
              <a:rPr sz="1000">
                <a:solidFill>
                  <a:srgbClr val="66B29B"/>
                </a:solidFill>
              </a:rPr>
              <a:t>■ Планирование   </a:t>
            </a:r>
            <a:r>
              <a:rPr sz="1000">
                <a:solidFill>
                  <a:srgbClr val="D5824F"/>
                </a:solidFill>
              </a:rPr>
              <a:t>■ Исполнение   </a:t>
            </a:r>
            <a:r>
              <a:rPr sz="1000">
                <a:solidFill>
                  <a:srgbClr val="C9A866"/>
                </a:solidFill>
              </a:rPr>
              <a:t>■ Контроль и тестирование   </a:t>
            </a:r>
            <a:r>
              <a:rPr sz="1000">
                <a:solidFill>
                  <a:srgbClr val="916CB2"/>
                </a:solidFill>
              </a:rPr>
              <a:t>■ Завершение и ввод в эксплуатацию   </a:t>
            </a:r>
          </a:p>
          <a:p>
            <a:pPr algn="l"/>
            <a:r>
              <a:rPr sz="800" i="1">
                <a:solidFill>
                  <a:srgbClr val="606060"/>
                </a:solidFill>
              </a:rPr>
              <a:t>◆ — milestone (контрольная точка задачи). Шкала — календарные кварталы.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/>
              <a:t>Чек-лист: что должно быть в дорожной карте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/>
              <a:t>Обязательные элементы дорожной карты (PMI PMBOK 7 / ICB4):</a:t>
            </a:r>
          </a:p>
          <a:p>
            <a:pPr algn="l"/>
            <a:r>
              <a:rPr sz="1000"/>
              <a:t>  [✓] Инициирование: бизнес-кейс, заинтересованные стороны, scope</a:t>
            </a:r>
          </a:p>
          <a:p>
            <a:pPr algn="l"/>
            <a:r>
              <a:rPr sz="1000"/>
              <a:t>  [✓] Планирование: архитектура, road-map фаз, ресурсы, бюджет, риски</a:t>
            </a:r>
          </a:p>
          <a:p>
            <a:pPr algn="l"/>
            <a:r>
              <a:rPr sz="1000"/>
              <a:t>  [✓] Исполнение: декомпозированная WBS с конкретными работами</a:t>
            </a:r>
          </a:p>
          <a:p>
            <a:pPr algn="l"/>
            <a:r>
              <a:rPr sz="1000"/>
              <a:t>  [✓] Контроль и тестирование: stage-gates между фазами, ПСИ/ПРОМ</a:t>
            </a:r>
          </a:p>
          <a:p>
            <a:pPr algn="l"/>
            <a:r>
              <a:rPr sz="1000"/>
              <a:t>  [✓] Завершение: вывод в ПРОМ, документы передачи, отказ от legacy</a:t>
            </a:r>
          </a:p>
          <a:p>
            <a:pPr algn="l"/>
            <a:r>
              <a:rPr sz="1300"/>
              <a:t/>
            </a:r>
          </a:p>
          <a:p>
            <a:pPr algn="l"/>
            <a:r>
              <a:rPr sz="1200"/>
              <a:t>Методические рекомендации:</a:t>
            </a:r>
          </a:p>
          <a:p>
            <a:pPr algn="l"/>
            <a:r>
              <a:rPr sz="1100"/>
              <a:t>  * Time-buffer 10-25% между крупными фазами</a:t>
            </a:r>
          </a:p>
          <a:p>
            <a:pPr algn="l"/>
            <a:r>
              <a:rPr sz="1000"/>
              <a:t>  * Stage-gate после каждой фазы (контрольная точка с критерием приёмки)</a:t>
            </a:r>
          </a:p>
          <a:p>
            <a:pPr algn="l"/>
            <a:r>
              <a:rPr sz="1200"/>
              <a:t>  * Зависимости между командами - явные</a:t>
            </a:r>
          </a:p>
          <a:p>
            <a:pPr algn="l"/>
            <a:r>
              <a:rPr sz="1100"/>
              <a:t>  * Управление рисками: реестр рисков с владельцами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